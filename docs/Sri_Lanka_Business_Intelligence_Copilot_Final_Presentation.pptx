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e3621818d64ed8" /><Relationship Type="http://schemas.openxmlformats.org/officeDocument/2006/relationships/extended-properties" Target="/docProps/app.xml" Id="R75e4a5ef4e084ddf" /><Relationship Type="http://schemas.openxmlformats.org/officeDocument/2006/relationships/officeDocument" Target="/ppt/presentation.xml" Id="Rbe01e1594b0349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2078e169f841e1"/>
  </p:sldMasterIdLst>
  <p:notesMasterIdLst>
    <p:notesMasterId xmlns:r="http://schemas.openxmlformats.org/officeDocument/2006/relationships" r:id="Rb3812b8bb6a54d5c"/>
  </p:notesMasterIdLst>
  <p:sldIdLst>
    <p:sldId xmlns:r="http://schemas.openxmlformats.org/officeDocument/2006/relationships" id="256" r:id="R9dbfb9c95f414448"/>
    <p:sldId xmlns:r="http://schemas.openxmlformats.org/officeDocument/2006/relationships" id="257" r:id="R58dd4174c7c74e41"/>
    <p:sldId xmlns:r="http://schemas.openxmlformats.org/officeDocument/2006/relationships" id="258" r:id="Rdd621dde7d144b85"/>
    <p:sldId xmlns:r="http://schemas.openxmlformats.org/officeDocument/2006/relationships" id="259" r:id="R3231ef3c18764986"/>
    <p:sldId xmlns:r="http://schemas.openxmlformats.org/officeDocument/2006/relationships" id="260" r:id="R115e9bf8287240bd"/>
    <p:sldId xmlns:r="http://schemas.openxmlformats.org/officeDocument/2006/relationships" id="261" r:id="R294caa979f0249b0"/>
    <p:sldId xmlns:r="http://schemas.openxmlformats.org/officeDocument/2006/relationships" id="262" r:id="R7e81349854984432"/>
    <p:sldId xmlns:r="http://schemas.openxmlformats.org/officeDocument/2006/relationships" id="263" r:id="R259e92a963074250"/>
    <p:sldId xmlns:r="http://schemas.openxmlformats.org/officeDocument/2006/relationships" id="264" r:id="R4afc835ce1994334"/>
    <p:sldId xmlns:r="http://schemas.openxmlformats.org/officeDocument/2006/relationships" id="265" r:id="R53c8624b7c7b49c3"/>
    <p:sldId xmlns:r="http://schemas.openxmlformats.org/officeDocument/2006/relationships" id="266" r:id="Rd063e31711e54996"/>
    <p:sldId xmlns:r="http://schemas.openxmlformats.org/officeDocument/2006/relationships" id="267" r:id="R734f894d4f6f4724"/>
    <p:sldId xmlns:r="http://schemas.openxmlformats.org/officeDocument/2006/relationships" id="268" r:id="R82d7021bffae4164"/>
    <p:sldId xmlns:r="http://schemas.openxmlformats.org/officeDocument/2006/relationships" id="269" r:id="Rd04d1e1e96104950"/>
    <p:sldId xmlns:r="http://schemas.openxmlformats.org/officeDocument/2006/relationships" id="270" r:id="R9a5624ec283a4b49"/>
    <p:sldId xmlns:r="http://schemas.openxmlformats.org/officeDocument/2006/relationships" id="271" r:id="Rd00e740e33414e7c"/>
    <p:sldId xmlns:r="http://schemas.openxmlformats.org/officeDocument/2006/relationships" id="272" r:id="R7e59a955fad44610"/>
    <p:sldId xmlns:r="http://schemas.openxmlformats.org/officeDocument/2006/relationships" id="273" r:id="R94d86e89b3c34db4"/>
    <p:sldId xmlns:r="http://schemas.openxmlformats.org/officeDocument/2006/relationships" id="274" r:id="Rd6230a2d2dbb422e"/>
    <p:sldId xmlns:r="http://schemas.openxmlformats.org/officeDocument/2006/relationships" id="275" r:id="R70892a361bd942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39c59f77ae456a" /><Relationship Type="http://schemas.openxmlformats.org/officeDocument/2006/relationships/slideMaster" Target="/ppt/slideMasters/slideMaster1.xml" Id="R792078e169f841e1" /><Relationship Type="http://schemas.openxmlformats.org/officeDocument/2006/relationships/notesMaster" Target="/ppt/notesMasters/notesMaster1.xml" Id="Rb3812b8bb6a54d5c" /><Relationship Type="http://schemas.openxmlformats.org/officeDocument/2006/relationships/presProps" Target="/ppt/presProps.xml" Id="R02e751507a0e45cc" /><Relationship Type="http://schemas.openxmlformats.org/officeDocument/2006/relationships/tableStyles" Target="/ppt/tableStyles.xml" Id="Ra9d82d467f3d422a" /><Relationship Type="http://schemas.openxmlformats.org/officeDocument/2006/relationships/slide" Target="/ppt/slides/slide1.xml" Id="R9dbfb9c95f414448" /><Relationship Type="http://schemas.openxmlformats.org/officeDocument/2006/relationships/slide" Target="/ppt/slides/slide2.xml" Id="R58dd4174c7c74e41" /><Relationship Type="http://schemas.openxmlformats.org/officeDocument/2006/relationships/slide" Target="/ppt/slides/slide3.xml" Id="Rdd621dde7d144b85" /><Relationship Type="http://schemas.openxmlformats.org/officeDocument/2006/relationships/slide" Target="/ppt/slides/slide4.xml" Id="R3231ef3c18764986" /><Relationship Type="http://schemas.openxmlformats.org/officeDocument/2006/relationships/slide" Target="/ppt/slides/slide5.xml" Id="R115e9bf8287240bd" /><Relationship Type="http://schemas.openxmlformats.org/officeDocument/2006/relationships/slide" Target="/ppt/slides/slide6.xml" Id="R294caa979f0249b0" /><Relationship Type="http://schemas.openxmlformats.org/officeDocument/2006/relationships/slide" Target="/ppt/slides/slide7.xml" Id="R7e81349854984432" /><Relationship Type="http://schemas.openxmlformats.org/officeDocument/2006/relationships/slide" Target="/ppt/slides/slide8.xml" Id="R259e92a963074250" /><Relationship Type="http://schemas.openxmlformats.org/officeDocument/2006/relationships/slide" Target="/ppt/slides/slide9.xml" Id="R4afc835ce1994334" /><Relationship Type="http://schemas.openxmlformats.org/officeDocument/2006/relationships/slide" Target="/ppt/slides/slide10.xml" Id="R53c8624b7c7b49c3" /><Relationship Type="http://schemas.openxmlformats.org/officeDocument/2006/relationships/slide" Target="/ppt/slides/slide11.xml" Id="Rd063e31711e54996" /><Relationship Type="http://schemas.openxmlformats.org/officeDocument/2006/relationships/slide" Target="/ppt/slides/slide12.xml" Id="R734f894d4f6f4724" /><Relationship Type="http://schemas.openxmlformats.org/officeDocument/2006/relationships/slide" Target="/ppt/slides/slide13.xml" Id="R82d7021bffae4164" /><Relationship Type="http://schemas.openxmlformats.org/officeDocument/2006/relationships/slide" Target="/ppt/slides/slide14.xml" Id="Rd04d1e1e96104950" /><Relationship Type="http://schemas.openxmlformats.org/officeDocument/2006/relationships/slide" Target="/ppt/slides/slide15.xml" Id="R9a5624ec283a4b49" /><Relationship Type="http://schemas.openxmlformats.org/officeDocument/2006/relationships/slide" Target="/ppt/slides/slide16.xml" Id="Rd00e740e33414e7c" /><Relationship Type="http://schemas.openxmlformats.org/officeDocument/2006/relationships/slide" Target="/ppt/slides/slide17.xml" Id="R7e59a955fad44610" /><Relationship Type="http://schemas.openxmlformats.org/officeDocument/2006/relationships/slide" Target="/ppt/slides/slide18.xml" Id="R94d86e89b3c34db4" /><Relationship Type="http://schemas.openxmlformats.org/officeDocument/2006/relationships/slide" Target="/ppt/slides/slide19.xml" Id="Rd6230a2d2dbb422e" /><Relationship Type="http://schemas.openxmlformats.org/officeDocument/2006/relationships/slide" Target="/ppt/slides/slide20.xml" Id="R70892a361bd942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5129d19c2e4c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28dac470e346c3" /><Relationship Type="http://schemas.openxmlformats.org/officeDocument/2006/relationships/notesMaster" Target="/ppt/notesMasters/notesMaster1.xml" Id="R4c33ef7b76cb4a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b86649e8644fca" /><Relationship Type="http://schemas.openxmlformats.org/officeDocument/2006/relationships/notesMaster" Target="/ppt/notesMasters/notesMaster1.xml" Id="R717da6db93cf47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5c2107a8b24820" /><Relationship Type="http://schemas.openxmlformats.org/officeDocument/2006/relationships/notesMaster" Target="/ppt/notesMasters/notesMaster1.xml" Id="R6f610e00281046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1a8f44b7264679" /><Relationship Type="http://schemas.openxmlformats.org/officeDocument/2006/relationships/notesMaster" Target="/ppt/notesMasters/notesMaster1.xml" Id="Rd2282de5406d47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ac4ead4e3f4ae8" /><Relationship Type="http://schemas.openxmlformats.org/officeDocument/2006/relationships/notesMaster" Target="/ppt/notesMasters/notesMaster1.xml" Id="R2e6d41c9841c40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3ae22ff7bd480a" /><Relationship Type="http://schemas.openxmlformats.org/officeDocument/2006/relationships/notesMaster" Target="/ppt/notesMasters/notesMaster1.xml" Id="R2c36dc890a6547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ca2c3f2c024ef0" /><Relationship Type="http://schemas.openxmlformats.org/officeDocument/2006/relationships/notesMaster" Target="/ppt/notesMasters/notesMaster1.xml" Id="Rda7025155b6c47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295f0c09e14d67" /><Relationship Type="http://schemas.openxmlformats.org/officeDocument/2006/relationships/notesMaster" Target="/ppt/notesMasters/notesMaster1.xml" Id="R11fd593c248541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99033bff9c4794" /><Relationship Type="http://schemas.openxmlformats.org/officeDocument/2006/relationships/notesMaster" Target="/ppt/notesMasters/notesMaster1.xml" Id="Rf2950015a11e4b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ea66233dc140f2" /><Relationship Type="http://schemas.openxmlformats.org/officeDocument/2006/relationships/notesMaster" Target="/ppt/notesMasters/notesMaster1.xml" Id="Rd188176196e347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87520751e44540" /><Relationship Type="http://schemas.openxmlformats.org/officeDocument/2006/relationships/notesMaster" Target="/ppt/notesMasters/notesMaster1.xml" Id="R7089ad05a03e46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67b182cd2540f6" /><Relationship Type="http://schemas.openxmlformats.org/officeDocument/2006/relationships/notesMaster" Target="/ppt/notesMasters/notesMaster1.xml" Id="R438afbaa4a124a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e2a56b392c4311" /><Relationship Type="http://schemas.openxmlformats.org/officeDocument/2006/relationships/notesMaster" Target="/ppt/notesMasters/notesMaster1.xml" Id="R4597c276506f4d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31cbf9401044d4" /><Relationship Type="http://schemas.openxmlformats.org/officeDocument/2006/relationships/notesMaster" Target="/ppt/notesMasters/notesMaster1.xml" Id="R568f56c8dc564b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7c9869518042d0" /><Relationship Type="http://schemas.openxmlformats.org/officeDocument/2006/relationships/notesMaster" Target="/ppt/notesMasters/notesMaster1.xml" Id="Rb16fc930ae5243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2d84e258294ba3" /><Relationship Type="http://schemas.openxmlformats.org/officeDocument/2006/relationships/notesMaster" Target="/ppt/notesMasters/notesMaster1.xml" Id="Rd795e6275fef49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baa820a52b4904" /><Relationship Type="http://schemas.openxmlformats.org/officeDocument/2006/relationships/notesMaster" Target="/ppt/notesMasters/notesMaster1.xml" Id="R08bc7a76d43140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80b656daf04151" /><Relationship Type="http://schemas.openxmlformats.org/officeDocument/2006/relationships/notesMaster" Target="/ppt/notesMasters/notesMaster1.xml" Id="R8b41b6dfe84c41e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94669b072b40e1" /><Relationship Type="http://schemas.openxmlformats.org/officeDocument/2006/relationships/notesMaster" Target="/ppt/notesMasters/notesMaster1.xml" Id="R742842d5e2ae48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8f42bb17414ed0" /><Relationship Type="http://schemas.openxmlformats.org/officeDocument/2006/relationships/notesMaster" Target="/ppt/notesMasters/notesMaster1.xml" Id="Re75e2be544044b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decision-support problem and explain that the deck distinguishes implemented capability from pending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project as a decision-support problem, not a chatbot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four design objectives. Emphasize citations, multimodality, geospatial enrichment, and observability.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top path answers knowledge questions; the bottom path processes land evidence. Both are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imply every source has complete corpus coverage. Explain the difference between supported catalogue and ingested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evaluation compares the first three vector results against the reranked top three from the same 20 candidates.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POST /agent returns the selected tool and reason. A verified run selected knowledge_search for a factual foreign-investment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docs/TRACE_EVIDENCE.md; backend/app/agents/router.py.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separation between observed evidence, external enrichment, and model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simple OCR would not satisfy the multimodal goal: spatial and visual evidence changes the resulting assessment.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coordinates are screening evidence. A broad administrative match is not parcel-level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live demo order. Historical transcripts restore messages, but historical source cards cannot be reconstructed because source metadata is not stored with database messages.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deterministic retrieval metrics from LLM-judge answer metrics. The judge is useful evidence, not an unquestionable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backend/app/evaluation/reports/evaluation_summary.md generated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negative result directly. Do not reframe it as improvement. Mention that statistics and tax/compliance are the weakest categories.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backend/app/evaluation/reports/evaluation_summary.md generated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justify targeted ingestion and metadata work rather than broad model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backend/app/evaluation/reports/evaluation_summary.md.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privacy reason: representative land documents may contain sensitive property or personal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shared LangSmith run if connectivity and permissions allow. The live proof covers model-directed routing; a consented end-to-end land trace remains a useful next validation artifact.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docs/TRACE_EVIDENCE.md.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crisp. Limitations are part of responsible technical positioning, not an apology.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matrix as the explicit compliance statement. Land fixture execution and production hardening remain limitations, not hidden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- 00_Overview_and_Project_Menu.pdf, pp. 2–4; repository source, trace evidence and evaluation outputs inspected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substantive rubric artifacts now exist. Remaining operational work is final repository publication and a rehearsed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- 00_Overview_and_Project_Menu.pdf, p. 4 and handwritten annotation on p. 3; repository inspected 24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and state the remaining compliance work plainly. Invite questions or move into the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evidence: README.md; docs/ARCHITECTURE.md; docs/EVALUATION.md; docs/DEMO.md; source code inspected 24 Aug 2026. Official rubric: 00_Overview_and_Project_Menu.pdf, pp.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6180e593040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9e4a13fd6c48ec" /><Relationship Type="http://schemas.openxmlformats.org/officeDocument/2006/relationships/slideLayout" Target="/ppt/slideLayouts/slideLayout1.xml" Id="Rc726c211661347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26c211661347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593b432e04ba7" /><Relationship Type="http://schemas.openxmlformats.org/officeDocument/2006/relationships/notesSlide" Target="/ppt/notesSlides/notesSlide1.xml" Id="Rc91f4533892040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fef17d2db483a" /><Relationship Type="http://schemas.openxmlformats.org/officeDocument/2006/relationships/notesSlide" Target="/ppt/notesSlides/notesSlide2.xml" Id="R726357d86b6440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c93a2fe3a438b" /><Relationship Type="http://schemas.openxmlformats.org/officeDocument/2006/relationships/notesSlide" Target="/ppt/notesSlides/notesSlide3.xml" Id="R2d1cbd63da4a4e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793c2593d4d38" /><Relationship Type="http://schemas.openxmlformats.org/officeDocument/2006/relationships/notesSlide" Target="/ppt/notesSlides/notesSlide4.xml" Id="R58f561a49ee440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41267b6244ad7" /><Relationship Type="http://schemas.openxmlformats.org/officeDocument/2006/relationships/notesSlide" Target="/ppt/notesSlides/notesSlide5.xml" Id="Rf3a1ed0e989648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78c9472c44884" /><Relationship Type="http://schemas.openxmlformats.org/officeDocument/2006/relationships/notesSlide" Target="/ppt/notesSlides/notesSlide6.xml" Id="R7ce939bfc5a64d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dc84a0d5d4ab4" /><Relationship Type="http://schemas.openxmlformats.org/officeDocument/2006/relationships/notesSlide" Target="/ppt/notesSlides/notesSlide7.xml" Id="R6229be074d644a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9994867874ee2" /><Relationship Type="http://schemas.openxmlformats.org/officeDocument/2006/relationships/notesSlide" Target="/ppt/notesSlides/notesSlide8.xml" Id="R5405d809259f44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99eae73604d67" /><Relationship Type="http://schemas.openxmlformats.org/officeDocument/2006/relationships/notesSlide" Target="/ppt/notesSlides/notesSlide9.xml" Id="Ra70e0911dc2845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2e2bc24774e88" /><Relationship Type="http://schemas.openxmlformats.org/officeDocument/2006/relationships/notesSlide" Target="/ppt/notesSlides/notesSlide10.xml" Id="R4544b14c626146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651d9d2644de7" /><Relationship Type="http://schemas.openxmlformats.org/officeDocument/2006/relationships/notesSlide" Target="/ppt/notesSlides/notesSlide11.xml" Id="Rb2ed45aeef904f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b820df7a646d5" /><Relationship Type="http://schemas.openxmlformats.org/officeDocument/2006/relationships/notesSlide" Target="/ppt/notesSlides/notesSlide12.xml" Id="Re2dfd0a7a39242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639a575504438" /><Relationship Type="http://schemas.openxmlformats.org/officeDocument/2006/relationships/chart" Target="/ppt/slides/charts/chart1.xml" Id="Rab8d033a0c614a6d" /><Relationship Type="http://schemas.openxmlformats.org/officeDocument/2006/relationships/notesSlide" Target="/ppt/notesSlides/notesSlide13.xml" Id="R6bb02c25ad544b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27b8ecaa14081" /><Relationship Type="http://schemas.openxmlformats.org/officeDocument/2006/relationships/notesSlide" Target="/ppt/notesSlides/notesSlide14.xml" Id="R25f2f648167547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e43a4e32f486c" /><Relationship Type="http://schemas.openxmlformats.org/officeDocument/2006/relationships/notesSlide" Target="/ppt/notesSlides/notesSlide15.xml" Id="R469a2141d5fa42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414fb2ac34eed" /><Relationship Type="http://schemas.openxmlformats.org/officeDocument/2006/relationships/notesSlide" Target="/ppt/notesSlides/notesSlide16.xml" Id="R8c362fbdf96f42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558cb3d504263" /><Relationship Type="http://schemas.openxmlformats.org/officeDocument/2006/relationships/notesSlide" Target="/ppt/notesSlides/notesSlide17.xml" Id="R209e2f3467b14b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ec0fd576e4758" /><Relationship Type="http://schemas.openxmlformats.org/officeDocument/2006/relationships/notesSlide" Target="/ppt/notesSlides/notesSlide18.xml" Id="R523ef8b1b8d04e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52bdf1db64cf0" /><Relationship Type="http://schemas.openxmlformats.org/officeDocument/2006/relationships/notesSlide" Target="/ppt/notesSlides/notesSlide19.xml" Id="Ra7aca8467a78472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dd266c7e34b8d" /><Relationship Type="http://schemas.openxmlformats.org/officeDocument/2006/relationships/notesSlide" Target="/ppt/notesSlides/notesSlide20.xml" Id="Rdc4358dafba241c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Vector only</c:v>
          </c:tx>
          <c:spPr>
            <a:solidFill xmlns:a="http://schemas.openxmlformats.org/drawingml/2006/main">
              <a:srgbClr val="2F6D61"/>
            </a:solidFill>
          </c:spPr>
          <c:cat>
            <c:strLit>
              <c:ptCount val="3"/>
              <c:pt idx="0">
                <c:v>Hit@3</c:v>
              </c:pt>
              <c:pt idx="1">
                <c:v>MRR</c:v>
              </c:pt>
              <c:pt idx="2">
                <c:v>Precision@3</c:v>
              </c:pt>
            </c:strLit>
          </c:cat>
          <c:val>
            <c:numLit>
              <c:formatCode>General</c:formatCode>
              <c:ptCount val="3"/>
              <c:pt idx="0">
                <c:v>70</c:v>
              </c:pt>
              <c:pt idx="1">
                <c:v>61.1</c:v>
              </c:pt>
              <c:pt idx="2">
                <c:v>55.6</c:v>
              </c:pt>
            </c:numLit>
          </c:val>
        </c:ser>
        <c:ser>
          <c:idx val="1"/>
          <c:order val="1"/>
          <c:tx>
            <c:v>Vector + reranker</c:v>
          </c:tx>
          <c:spPr>
            <a:solidFill xmlns:a="http://schemas.openxmlformats.org/drawingml/2006/main">
              <a:srgbClr val="D7A842"/>
            </a:solidFill>
          </c:spPr>
          <c:cat>
            <c:strLit>
              <c:ptCount val="3"/>
              <c:pt idx="0">
                <c:v>Hit@3</c:v>
              </c:pt>
              <c:pt idx="1">
                <c:v>MRR</c:v>
              </c:pt>
              <c:pt idx="2">
                <c:v>Precision@3</c:v>
              </c:pt>
            </c:strLit>
          </c:cat>
          <c:val>
            <c:numLit>
              <c:formatCode>General</c:formatCode>
              <c:ptCount val="3"/>
              <c:pt idx="0">
                <c:v>66.7</c:v>
              </c:pt>
              <c:pt idx="1">
                <c:v>60</c:v>
              </c:pt>
              <c:pt idx="2">
                <c:v>40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ED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3F67F991-08E1-4375-9828-C733EB00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7C2AA77-5023-4531-BE88-3274A308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842"/>
                </a:solidFill>
              </a:defRPr>
            </a:pPr>
            <a:r>
              <a:rPr sz="1050" b="1">
                <a:solidFill>
                  <a:srgbClr val="D7A842"/>
                </a:solidFill>
              </a:rPr>
              <a:t>FINAL PROJECT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1BD2A17-C17F-4E86-A5ED-33D85D69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Sri Lanka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Business Intelligence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Copilot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7C5D46-3CD1-4333-9575-3DBEA73B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5E0"/>
                </a:solidFill>
              </a:defRPr>
            </a:pPr>
            <a:r>
              <a:rPr sz="1725" b="0">
                <a:solidFill>
                  <a:srgbClr val="D9E5E0"/>
                </a:solidFill>
              </a:rPr>
              <a:t>Grounded business research meets multimodal land intelligence.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9F9AC1-96AF-468E-AD9D-98D89BA7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C36"/>
                </a:solidFill>
              </a:defRPr>
            </a:pPr>
            <a:r>
              <a:rPr sz="1800" b="1">
                <a:solidFill>
                  <a:srgbClr val="173C36"/>
                </a:solidFill>
              </a:rPr>
              <a:t>RAG  •  Agents  •  Vision  •  Geospatial  •  Evaluation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AE887D8B-7FCD-4EDC-B5D0-E56A35AF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A842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EF19E9B-3026-4DA8-80EB-07798462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918"/>
                </a:solidFill>
              </a:defRPr>
            </a:pPr>
            <a:r>
              <a:rPr sz="2100" b="1">
                <a:solidFill>
                  <a:srgbClr val="101918"/>
                </a:solidFill>
              </a:rPr>
              <a:t>Editable final presentation</a:t>
            </a:r>
          </a:p>
          <a:p xmlns:a="http://schemas.openxmlformats.org/drawingml/2006/main">
            <a:pPr algn="l">
              <a:defRPr sz="2100" b="1">
                <a:solidFill>
                  <a:srgbClr val="101918"/>
                </a:solidFill>
              </a:defRPr>
            </a:pPr>
            <a:r>
              <a:rPr sz="2100" b="1">
                <a:solidFill>
                  <a:srgbClr val="101918"/>
                </a:solidFill>
              </a:rPr>
              <a:t>15–20 minute project review and demo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37DF07D-2148-4741-9F07-51EC11E0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292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6B"/>
                </a:solidFill>
              </a:defRPr>
            </a:pPr>
            <a:r>
              <a:rPr sz="1275" b="0">
                <a:solidFill>
                  <a:srgbClr val="64706B"/>
                </a:solidFill>
              </a:rPr>
              <a:t>Repository state reviewed 24 August 2026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5A2F97C-DF9D-47CF-B2F7-3056154B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FINAL PROJECT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075FDC-A8D0-4BD4-86AF-7AA8272B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6771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E4FAB49F-81A6-425C-A98E-C8B81937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D88659-F2DC-4EAD-AC5E-E821A7B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Business evidence is fragmented—and land decisions add another data layer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3B95912B-392E-4F3D-9C05-01F044C5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7B2673-E9B4-4E12-88DC-B6DF1270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09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918"/>
                </a:solidFill>
              </a:defRPr>
            </a:pPr>
            <a:r>
              <a:rPr sz="2100" b="1">
                <a:solidFill>
                  <a:srgbClr val="101918"/>
                </a:solidFill>
              </a:rPr>
              <a:t>Entrepreneurs must reconcile policy, sector, market and location evidence before they can act.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56070501-2AED-43FD-9056-C74905E1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4191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532003E-6782-4A48-BD72-22DC7E39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43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D61"/>
                </a:solidFill>
              </a:defRPr>
            </a:pPr>
            <a:r>
              <a:rPr sz="1050" b="1">
                <a:solidFill>
                  <a:srgbClr val="2F6D61"/>
                </a:solidFill>
              </a:rPr>
              <a:t>THE DECISION GAP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1F5C8A7-0362-4A3E-9E10-BA26D438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42"/>
                </a:solidFill>
              </a:defRPr>
            </a:pPr>
            <a:r>
              <a:rPr sz="157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66257D-FF95-49B0-9298-4C388318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288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8"/>
                </a:solidFill>
              </a:defRPr>
            </a:pPr>
            <a:r>
              <a:rPr sz="1575" b="0">
                <a:solidFill>
                  <a:srgbClr val="101918"/>
                </a:solidFill>
              </a:rPr>
              <a:t>Official reports live across agencies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682215F-993B-4934-BEDA-FD637D1F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384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42"/>
                </a:solidFill>
              </a:defRPr>
            </a:pPr>
            <a:r>
              <a:rPr sz="157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DF1F20F-D786-4659-87B6-A4101A20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384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8"/>
                </a:solidFill>
              </a:defRPr>
            </a:pPr>
            <a:r>
              <a:rPr sz="1575" b="0">
                <a:solidFill>
                  <a:srgbClr val="101918"/>
                </a:solidFill>
              </a:rPr>
              <a:t>Land plans are image-heavy and unstructured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65482D-62B3-4C38-A79F-DFB2E8BC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480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42"/>
                </a:solidFill>
              </a:defRPr>
            </a:pPr>
            <a:r>
              <a:rPr sz="157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CD8C906-489B-40CB-AA8F-BB9BA621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480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8"/>
                </a:solidFill>
              </a:defRPr>
            </a:pPr>
            <a:r>
              <a:rPr sz="1575" b="0">
                <a:solidFill>
                  <a:srgbClr val="101918"/>
                </a:solidFill>
              </a:rPr>
              <a:t>Nearby infrastructure changes feasibility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051BA3C-2151-421E-8F13-3396DB44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576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42"/>
                </a:solidFill>
              </a:defRPr>
            </a:pPr>
            <a:r>
              <a:rPr sz="157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6B24152-1A8B-404F-9555-90A7775B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576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8"/>
                </a:solidFill>
              </a:defRPr>
            </a:pPr>
            <a:r>
              <a:rPr sz="1575" b="0">
                <a:solidFill>
                  <a:srgbClr val="101918"/>
                </a:solidFill>
              </a:rPr>
              <a:t>Generic answers hide uncertainty and provenance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078997E-CD5F-4AE7-B2FD-C3F4AC69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06B"/>
                </a:solidFill>
              </a:defRPr>
            </a:pPr>
            <a:r>
              <a:rPr sz="1650" b="1">
                <a:solidFill>
                  <a:srgbClr val="64706B"/>
                </a:solidFill>
              </a:rPr>
              <a:t>The result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5D04183-B12A-4E3B-8DFE-FDF52439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5619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C36"/>
                </a:solidFill>
              </a:defRPr>
            </a:pPr>
            <a:r>
              <a:rPr sz="2625" b="1">
                <a:solidFill>
                  <a:srgbClr val="173C36"/>
                </a:solidFill>
              </a:rPr>
              <a:t>Slow research, inconsistent evidence and recommendations that are hard to audit.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F88DBFA-BA95-48FE-AD6F-2ED45CF2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IMPLEMENTED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B6B582E-2AE6-44DC-881C-D184D46E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1753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F23444E6-5B93-42E1-8EBD-9CDCD019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9FB62A-606C-4463-83BA-BAC3FE9C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The objective: one evidence-led copilot for questions and property screening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497DA747-C996-4145-9355-09439E31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14F545-39BA-404D-B4B1-B502E7FE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A842"/>
                </a:solidFill>
              </a:defRPr>
            </a:pPr>
            <a:r>
              <a:rPr sz="2400" b="1">
                <a:solidFill>
                  <a:srgbClr val="D7A842"/>
                </a:solidFill>
              </a:rPr>
              <a:t>01</a:t>
            </a:r>
          </a:p>
        </p:txBody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482D635A-523F-4929-A803-24823DF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C36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77A46FC-2A31-49BB-B575-71231B12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8"/>
                </a:solidFill>
              </a:defRPr>
            </a:pPr>
            <a:r>
              <a:rPr sz="1800" b="1">
                <a:solidFill>
                  <a:srgbClr val="101918"/>
                </a:solidFill>
              </a:rPr>
              <a:t>Ground answers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AF361E-6CC9-4ECC-91BD-F56719DB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Retrieve authoritative documents and preserve source metadata.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7F333D6-D95F-45F4-9517-EB5BD973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A842"/>
                </a:solidFill>
              </a:defRPr>
            </a:pPr>
            <a:r>
              <a:rPr sz="2400" b="1">
                <a:solidFill>
                  <a:srgbClr val="D7A842"/>
                </a:solidFill>
              </a:rPr>
              <a:t>02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E47225F9-3F5E-4556-B186-214E10E3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C36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70282A9-BA29-4DA2-A516-47AA2706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52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8"/>
                </a:solidFill>
              </a:defRPr>
            </a:pPr>
            <a:r>
              <a:rPr sz="1800" b="1">
                <a:solidFill>
                  <a:srgbClr val="101918"/>
                </a:solidFill>
              </a:rPr>
              <a:t>Understand land plans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800B9CE-9B86-4DC4-A02D-44D8D7B1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86125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Use vision on PDF, PNG and JPEG survey material.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DAF035B-E2F1-4A7F-B961-3EF8FB22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A842"/>
                </a:solidFill>
              </a:defRPr>
            </a:pPr>
            <a:r>
              <a:rPr sz="2400" b="1">
                <a:solidFill>
                  <a:srgbClr val="D7A842"/>
                </a:solidFill>
              </a:rPr>
              <a:t>03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C6C4AF8D-C8A7-4D09-AE2D-619DF0B7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C36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3E13B76-A96C-4623-9055-3282D9EA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8"/>
                </a:solidFill>
              </a:defRPr>
            </a:pPr>
            <a:r>
              <a:rPr sz="1800" b="1">
                <a:solidFill>
                  <a:srgbClr val="101918"/>
                </a:solidFill>
              </a:rPr>
              <a:t>Add place context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B835F4A-F913-42B1-9A69-D4DB5581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Geocode visible locations and query nearby OpenStreetMap features.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946FF32-4B1A-4F17-86E2-5E827E91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A842"/>
                </a:solidFill>
              </a:defRPr>
            </a:pPr>
            <a:r>
              <a:rPr sz="2400" b="1">
                <a:solidFill>
                  <a:srgbClr val="D7A842"/>
                </a:solidFill>
              </a:rPr>
              <a:t>04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1040DCE1-B162-4410-989A-09844B1A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43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3C36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63B4751-9A25-468B-8D0F-28EE32A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52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8"/>
                </a:solidFill>
              </a:defRPr>
            </a:pPr>
            <a:r>
              <a:rPr sz="1800" b="1">
                <a:solidFill>
                  <a:srgbClr val="101918"/>
                </a:solidFill>
              </a:rPr>
              <a:t>Expose the reasoning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26212B-1530-49CE-BD00-D3433B4F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86125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Trace multi-step work and evaluate retrieval against a baseline.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D999406-25B1-4AA0-909D-F617296F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IMPLEMENTED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18D4500-93AC-4599-AC3C-5A1E6A13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6314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">
            <a:extLst xmlns:a="http://schemas.openxmlformats.org/drawingml/2006/main">
              <a:ext uri="{FF2B5EF4-FFF2-40B4-BE49-F238E27FC236}">
                <a16:creationId xmlns:a16="http://schemas.microsoft.com/office/drawing/2014/main" id="{01ACEDF2-D38B-4FD7-91D6-98F00854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32E150-F7ED-4EF3-9BA1-5C74DFEE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Two coordinated paths share one FastAPI application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0D03EE4D-11E8-45F3-B20C-E9866F6F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connector">
            <a:extLst xmlns:a="http://schemas.openxmlformats.org/drawingml/2006/main">
              <a:ext uri="{FF2B5EF4-FFF2-40B4-BE49-F238E27FC236}">
                <a16:creationId xmlns:a16="http://schemas.microsoft.com/office/drawing/2014/main" id="{C55A57F5-E030-4D9B-B4EF-8A3D3ED0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33625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5" name="connector">
            <a:extLst xmlns:a="http://schemas.openxmlformats.org/drawingml/2006/main">
              <a:ext uri="{FF2B5EF4-FFF2-40B4-BE49-F238E27FC236}">
                <a16:creationId xmlns:a16="http://schemas.microsoft.com/office/drawing/2014/main" id="{A21B2BFF-3DDE-45B5-BE16-CFC81319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6" name="connector">
            <a:extLst xmlns:a="http://schemas.openxmlformats.org/drawingml/2006/main">
              <a:ext uri="{FF2B5EF4-FFF2-40B4-BE49-F238E27FC236}">
                <a16:creationId xmlns:a16="http://schemas.microsoft.com/office/drawing/2014/main" id="{8B91FA08-3DF4-4586-8DB1-98D73D78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7" name="connector">
            <a:extLst xmlns:a="http://schemas.openxmlformats.org/drawingml/2006/main">
              <a:ext uri="{FF2B5EF4-FFF2-40B4-BE49-F238E27FC236}">
                <a16:creationId xmlns:a16="http://schemas.microsoft.com/office/drawing/2014/main" id="{8A6287D3-3278-48B8-A264-CCEF670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29125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8" name="connector">
            <a:extLst xmlns:a="http://schemas.openxmlformats.org/drawingml/2006/main">
              <a:ext uri="{FF2B5EF4-FFF2-40B4-BE49-F238E27FC236}">
                <a16:creationId xmlns:a16="http://schemas.microsoft.com/office/drawing/2014/main" id="{8AA251E8-87D2-4F8B-92CA-7ABE61C5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9" name="connector">
            <a:extLst xmlns:a="http://schemas.openxmlformats.org/drawingml/2006/main">
              <a:ext uri="{FF2B5EF4-FFF2-40B4-BE49-F238E27FC236}">
                <a16:creationId xmlns:a16="http://schemas.microsoft.com/office/drawing/2014/main" id="{D5D6A9F6-DE71-4A6D-BFDA-F37ADC92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10" name="Next.js UI">
            <a:extLst xmlns:a="http://schemas.openxmlformats.org/drawingml/2006/main">
              <a:ext uri="{FF2B5EF4-FFF2-40B4-BE49-F238E27FC236}">
                <a16:creationId xmlns:a16="http://schemas.microsoft.com/office/drawing/2014/main" id="{C4F6178E-3BE7-43F3-BFD0-3C393C59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B6BE18F-E942-4902-A9B9-123E3800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Next.js UI</a:t>
            </a:r>
          </a:p>
        </p:txBody>
      </p:sp>
      <p:sp>
        <p:nvSpPr>
          <p:cNvPr id="12" name="FastAPI API">
            <a:extLst xmlns:a="http://schemas.openxmlformats.org/drawingml/2006/main">
              <a:ext uri="{FF2B5EF4-FFF2-40B4-BE49-F238E27FC236}">
                <a16:creationId xmlns:a16="http://schemas.microsoft.com/office/drawing/2014/main" id="{4D080CB8-8D49-4207-BB57-2E84094F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1524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3D92C8-44F7-4565-8552-1CBCEFFB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13335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FastAPI API</a:t>
            </a:r>
          </a:p>
        </p:txBody>
      </p:sp>
      <p:sp>
        <p:nvSpPr>
          <p:cNvPr id="14" name="RAG pipeline">
            <a:extLst xmlns:a="http://schemas.openxmlformats.org/drawingml/2006/main">
              <a:ext uri="{FF2B5EF4-FFF2-40B4-BE49-F238E27FC236}">
                <a16:creationId xmlns:a16="http://schemas.microsoft.com/office/drawing/2014/main" id="{F33E2DA6-701E-4FC6-9E75-E5C92200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8F13C2C-E17C-4D8E-B3DF-3B8BAE35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764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RAG pipeline</a:t>
            </a:r>
          </a:p>
        </p:txBody>
      </p:sp>
      <p:sp>
        <p:nvSpPr>
          <p:cNvPr id="16" name="Answer + sources">
            <a:extLst xmlns:a="http://schemas.openxmlformats.org/drawingml/2006/main">
              <a:ext uri="{FF2B5EF4-FFF2-40B4-BE49-F238E27FC236}">
                <a16:creationId xmlns:a16="http://schemas.microsoft.com/office/drawing/2014/main" id="{62F86894-C090-4705-8FAA-C3D5C3A8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18097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7A3EA65-1D81-49DF-8736-7632E008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61925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Answer + sources</a:t>
            </a:r>
          </a:p>
        </p:txBody>
      </p:sp>
      <p:sp>
        <p:nvSpPr>
          <p:cNvPr id="18" name="Land upload">
            <a:extLst xmlns:a="http://schemas.openxmlformats.org/drawingml/2006/main">
              <a:ext uri="{FF2B5EF4-FFF2-40B4-BE49-F238E27FC236}">
                <a16:creationId xmlns:a16="http://schemas.microsoft.com/office/drawing/2014/main" id="{EFF96B61-ECBF-4E63-BDA9-76C48308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B149F42-EF6D-45A1-8539-9A41A03C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719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Land upload</a:t>
            </a:r>
          </a:p>
        </p:txBody>
      </p:sp>
      <p:sp>
        <p:nvSpPr>
          <p:cNvPr id="20" name="Land Agent">
            <a:extLst xmlns:a="http://schemas.openxmlformats.org/drawingml/2006/main">
              <a:ext uri="{FF2B5EF4-FFF2-40B4-BE49-F238E27FC236}">
                <a16:creationId xmlns:a16="http://schemas.microsoft.com/office/drawing/2014/main" id="{825F997D-A888-484E-ADD3-FD77B10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15240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1C0A555-B38E-4E29-8DCE-8930D3E0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13335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Land Agent</a:t>
            </a:r>
          </a:p>
        </p:txBody>
      </p:sp>
      <p:sp>
        <p:nvSpPr>
          <p:cNvPr id="22" name="Vision + geo">
            <a:extLst xmlns:a="http://schemas.openxmlformats.org/drawingml/2006/main">
              <a:ext uri="{FF2B5EF4-FFF2-40B4-BE49-F238E27FC236}">
                <a16:creationId xmlns:a16="http://schemas.microsoft.com/office/drawing/2014/main" id="{037E5DFC-3070-4C42-B2BC-334F78D2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93628A8-56D8-48D1-A833-57D00634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719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Vision + geo</a:t>
            </a:r>
          </a:p>
        </p:txBody>
      </p:sp>
      <p:sp>
        <p:nvSpPr>
          <p:cNvPr id="24" name="Structured report">
            <a:extLst xmlns:a="http://schemas.openxmlformats.org/drawingml/2006/main">
              <a:ext uri="{FF2B5EF4-FFF2-40B4-BE49-F238E27FC236}">
                <a16:creationId xmlns:a16="http://schemas.microsoft.com/office/drawing/2014/main" id="{527AD209-18B7-4319-AF26-C2562920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8097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9D72235-95A1-4C05-BBBF-7BC81D0A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71950"/>
            <a:ext cx="161925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Structured report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6BDC1624-6476-4BB1-A588-33A292B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6700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4BAABA7-FA9A-4070-9CDC-3BD571CC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09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06B"/>
                </a:solidFill>
              </a:defRPr>
            </a:pPr>
            <a:r>
              <a:rPr sz="1050" b="1">
                <a:solidFill>
                  <a:srgbClr val="64706B"/>
                </a:solidFill>
              </a:rPr>
              <a:t>shared API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715605B-B928-47EF-90CC-910CE869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C36"/>
                </a:solidFill>
              </a:defRPr>
            </a:pPr>
            <a:r>
              <a:rPr sz="1350" b="1">
                <a:solidFill>
                  <a:srgbClr val="173C36"/>
                </a:solidFill>
              </a:rPr>
              <a:t>PostgreSQL + pgvector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AA2601B-E223-4707-8DF0-E4429D5D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D61"/>
                </a:solidFill>
              </a:defRPr>
            </a:pPr>
            <a:r>
              <a:rPr sz="1350" b="1">
                <a:solidFill>
                  <a:srgbClr val="2F6D61"/>
                </a:solidFill>
              </a:rPr>
              <a:t>LangSmith traces</a:t>
            </a:r>
          </a:p>
        </p:txBody>
      </p:sp>
      <p:sp>
        <p:nvSpPr>
          <p:cNvPr id="30" name="connector">
            <a:extLst xmlns:a="http://schemas.openxmlformats.org/drawingml/2006/main">
              <a:ext uri="{FF2B5EF4-FFF2-40B4-BE49-F238E27FC236}">
                <a16:creationId xmlns:a16="http://schemas.microsoft.com/office/drawing/2014/main" id="{043D049D-5BBB-4F92-AD2B-1C23FF0B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48050"/>
            <a:ext cx="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31" name="connector">
            <a:extLst xmlns:a="http://schemas.openxmlformats.org/drawingml/2006/main">
              <a:ext uri="{FF2B5EF4-FFF2-40B4-BE49-F238E27FC236}">
                <a16:creationId xmlns:a16="http://schemas.microsoft.com/office/drawing/2014/main" id="{77A2357D-9480-4D7D-A409-95C121E6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6250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84191821-61BD-42B0-821F-C607CCCE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IMPLEMENTED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CAF5660-3A6E-4600-B8A8-D48D848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3670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kicker">
            <a:extLst xmlns:a="http://schemas.openxmlformats.org/drawingml/2006/main">
              <a:ext uri="{FF2B5EF4-FFF2-40B4-BE49-F238E27FC236}">
                <a16:creationId xmlns:a16="http://schemas.microsoft.com/office/drawing/2014/main" id="{BDDD4EF1-4A7D-4B23-996B-920E42C6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FFA8C8-274C-4154-A806-D4B8E420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The knowledge base prioritizes authoritative Sri Lankan sources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C52A4A3E-51BA-4283-AAF0-4D4684BD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A42DB19-97F7-4948-925E-C704F009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D61"/>
                </a:solidFill>
              </a:defRPr>
            </a:pPr>
            <a:r>
              <a:rPr sz="1125" b="1">
                <a:solidFill>
                  <a:srgbClr val="2F6D61"/>
                </a:solidFill>
              </a:rPr>
              <a:t>ECONOMY &amp; POLICY</a:t>
            </a:r>
          </a:p>
        </p:txBody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D64D6AF9-113F-4596-B93A-59C5A02A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2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254092E-87BE-4C80-86F0-FBF60C63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BBD999-A184-4B41-8B47-6D26D0C6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Central Bank of Sri Lanka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2F65A7-76D6-48EC-A513-252B3646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759C91-938F-41F4-A051-855660E1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1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IMF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54E3C76-D3A5-415A-9B75-5D074BF3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F534AD6-B842-4635-AC21-0C542FFE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World Bank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2EADEE-494D-4506-8FF4-5983E87B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D61"/>
                </a:solidFill>
              </a:defRPr>
            </a:pPr>
            <a:r>
              <a:rPr sz="1125" b="1">
                <a:solidFill>
                  <a:srgbClr val="2F6D61"/>
                </a:solidFill>
              </a:rPr>
              <a:t>INVESTMENT &amp; EXPORT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AC0A6ECB-578E-44DE-BB66-CD274355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2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F2439FF-DAF8-426E-917E-07DE2554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288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3E00C64-B72B-4AF8-9975-5D0395FA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Board of Investment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F1042CA-58BE-44A5-BD09-E9A1BFF1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813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0D26881-33C6-46C1-95B0-D468BBC5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81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Export Development Board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2748EB8-90DC-4A12-9D4B-989B7368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337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68F347F-0B1F-4060-ACF1-A0D7E084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337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Sri Lanka Customs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DB3A467-95DD-4FDD-8AF3-1C3C5DBA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D61"/>
                </a:solidFill>
              </a:defRPr>
            </a:pPr>
            <a:r>
              <a:rPr sz="1125" b="1">
                <a:solidFill>
                  <a:srgbClr val="2F6D61"/>
                </a:solidFill>
              </a:rPr>
              <a:t>PEOPLE &amp; PRODUCTION</a:t>
            </a:r>
          </a:p>
        </p:txBody>
      </p:sp>
      <p:sp>
        <p:nvSpPr>
          <p:cNvPr id="21" name="line">
            <a:extLst xmlns:a="http://schemas.openxmlformats.org/drawingml/2006/main">
              <a:ext uri="{FF2B5EF4-FFF2-40B4-BE49-F238E27FC236}">
                <a16:creationId xmlns:a16="http://schemas.microsoft.com/office/drawing/2014/main" id="{2BBBD6DF-502A-46FD-B527-8BADA693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2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05B92E9-7A0B-468F-9CB4-E4E219D5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31E100B-BF45-434F-A176-8F68A62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Census &amp; Statistics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70E3BBA-05C9-48D9-A9A9-4D087E1A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813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6A2E4C6-7D5C-43A4-BBDF-BCB45E2C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81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Department of Agriculture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8646787-3CA4-4133-9309-6E0F6380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337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FB1A682-3B71-4463-8226-94880931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337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FAO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7EDAE5F-BBF4-4020-B83A-06CC6D59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D61"/>
                </a:solidFill>
              </a:defRPr>
            </a:pPr>
            <a:r>
              <a:rPr sz="1125" b="1">
                <a:solidFill>
                  <a:srgbClr val="2F6D61"/>
                </a:solidFill>
              </a:rPr>
              <a:t>LAND CONTEXT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38D03BF6-E540-4917-9727-462EF513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717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2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79C611F-0EB3-4E48-8BD2-8884258A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288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6661857-674B-4024-AA4B-98E030C8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288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OpenStreetMap Nominatim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BD4F4E6-5D64-4B8F-9CD1-DEC3E831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8132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427891F-2064-418D-9130-29541181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81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Overpass API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81437B2A-EA1E-409C-A999-1BDF10BA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33775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F91739BB-78F9-4654-88D7-57234619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337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Uploaded survey material</a:t>
            </a:r>
          </a:p>
        </p:txBody>
      </p:sp>
      <p:sp>
        <p:nvSpPr>
          <p:cNvPr id="36" name="box">
            <a:extLst xmlns:a="http://schemas.openxmlformats.org/drawingml/2006/main">
              <a:ext uri="{FF2B5EF4-FFF2-40B4-BE49-F238E27FC236}">
                <a16:creationId xmlns:a16="http://schemas.microsoft.com/office/drawing/2014/main" id="{2632BEF2-BF27-4507-9EAB-8F6E9DB2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810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51AF89EF-2486-4D3F-9CBF-57D394EF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Coverage is configuration-dependent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B20FA7D6-890B-4C40-A084-740C769E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57750"/>
            <a:ext cx="676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6B"/>
                </a:solidFill>
              </a:defRPr>
            </a:pPr>
            <a:r>
              <a:rPr sz="1425" b="0">
                <a:solidFill>
                  <a:srgbClr val="64706B"/>
                </a:solidFill>
              </a:rPr>
              <a:t>The catalogue supports these authorities; actual answer coverage depends on which documents were crawled and ingested locally.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2B266066-DE0D-4712-801E-5AAD8390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IMPLEMENTED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4C4AFCE-E8A6-48DE-A80B-0151CFA1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59399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FECBD563-1362-4FF8-B433-6FF304C1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BC3AEC-A527-44C1-9DE2-FC1CE680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RAG turns a question into a cited answer through controlled retrieval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43560463-2707-4856-B888-A8E4ECE9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connector">
            <a:extLst xmlns:a="http://schemas.openxmlformats.org/drawingml/2006/main">
              <a:ext uri="{FF2B5EF4-FFF2-40B4-BE49-F238E27FC236}">
                <a16:creationId xmlns:a16="http://schemas.microsoft.com/office/drawing/2014/main" id="{F6DD0A38-983E-41EC-B670-B666F153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575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5" name="connector">
            <a:extLst xmlns:a="http://schemas.openxmlformats.org/drawingml/2006/main">
              <a:ext uri="{FF2B5EF4-FFF2-40B4-BE49-F238E27FC236}">
                <a16:creationId xmlns:a16="http://schemas.microsoft.com/office/drawing/2014/main" id="{E678B229-AB87-4C05-8D6D-DC0AA9AC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6" name="connector">
            <a:extLst xmlns:a="http://schemas.openxmlformats.org/drawingml/2006/main">
              <a:ext uri="{FF2B5EF4-FFF2-40B4-BE49-F238E27FC236}">
                <a16:creationId xmlns:a16="http://schemas.microsoft.com/office/drawing/2014/main" id="{7B7DCA45-86C7-4A82-920A-EDD6FAA4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575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7" name="connector">
            <a:extLst xmlns:a="http://schemas.openxmlformats.org/drawingml/2006/main">
              <a:ext uri="{FF2B5EF4-FFF2-40B4-BE49-F238E27FC236}">
                <a16:creationId xmlns:a16="http://schemas.microsoft.com/office/drawing/2014/main" id="{4664DE76-112A-4BAA-BA98-164E71CF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8" name="connector">
            <a:extLst xmlns:a="http://schemas.openxmlformats.org/drawingml/2006/main">
              <a:ext uri="{FF2B5EF4-FFF2-40B4-BE49-F238E27FC236}">
                <a16:creationId xmlns:a16="http://schemas.microsoft.com/office/drawing/2014/main" id="{890CB01E-B5B4-4724-9827-7390C9B8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9" name="Question">
            <a:extLst xmlns:a="http://schemas.openxmlformats.org/drawingml/2006/main">
              <a:ext uri="{FF2B5EF4-FFF2-40B4-BE49-F238E27FC236}">
                <a16:creationId xmlns:a16="http://schemas.microsoft.com/office/drawing/2014/main" id="{0E8CB3BF-2F5D-48B8-8E60-777A728D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285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A13330-F62E-475A-AA57-A1528AB2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Question</a:t>
            </a:r>
          </a:p>
        </p:txBody>
      </p:sp>
      <p:sp>
        <p:nvSpPr>
          <p:cNvPr id="11" name="Embedding">
            <a:extLst xmlns:a="http://schemas.openxmlformats.org/drawingml/2006/main">
              <a:ext uri="{FF2B5EF4-FFF2-40B4-BE49-F238E27FC236}">
                <a16:creationId xmlns:a16="http://schemas.microsoft.com/office/drawing/2014/main" id="{C7B5740E-FE67-41C3-94BA-012C49C0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1285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5AB89B-B737-4E9C-BEE5-B32AF4D7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5270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Embedding</a:t>
            </a:r>
          </a:p>
        </p:txBody>
      </p:sp>
      <p:sp>
        <p:nvSpPr>
          <p:cNvPr id="13" name="20 vector candidates">
            <a:extLst xmlns:a="http://schemas.openxmlformats.org/drawingml/2006/main">
              <a:ext uri="{FF2B5EF4-FFF2-40B4-BE49-F238E27FC236}">
                <a16:creationId xmlns:a16="http://schemas.microsoft.com/office/drawing/2014/main" id="{9E8E85FE-ABC1-4953-B4A2-66C7BCFE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1285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08428BC-BC4F-41DC-A1ED-2A941028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5270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20 vector candidates</a:t>
            </a:r>
          </a:p>
        </p:txBody>
      </p:sp>
      <p:sp>
        <p:nvSpPr>
          <p:cNvPr id="15" name="Cross-encoder rerank">
            <a:extLst xmlns:a="http://schemas.openxmlformats.org/drawingml/2006/main">
              <a:ext uri="{FF2B5EF4-FFF2-40B4-BE49-F238E27FC236}">
                <a16:creationId xmlns:a16="http://schemas.microsoft.com/office/drawing/2014/main" id="{B58CB2B3-EF1D-470E-9957-A742115F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0"/>
            <a:ext cx="1285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2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6D3D14F-7FC3-4A65-A69C-E052ABA2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5270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Cross-encoder rerank</a:t>
            </a:r>
          </a:p>
        </p:txBody>
      </p:sp>
      <p:sp>
        <p:nvSpPr>
          <p:cNvPr id="17" name="Top 3 context">
            <a:extLst xmlns:a="http://schemas.openxmlformats.org/drawingml/2006/main">
              <a:ext uri="{FF2B5EF4-FFF2-40B4-BE49-F238E27FC236}">
                <a16:creationId xmlns:a16="http://schemas.microsoft.com/office/drawing/2014/main" id="{CF937790-B02A-4191-B980-727C9876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1285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5B29AB5-9555-4C30-B7F7-EB2FE72E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5270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Top 3 context</a:t>
            </a:r>
          </a:p>
        </p:txBody>
      </p:sp>
      <p:sp>
        <p:nvSpPr>
          <p:cNvPr id="19" name="Answer + citations">
            <a:extLst xmlns:a="http://schemas.openxmlformats.org/drawingml/2006/main">
              <a:ext uri="{FF2B5EF4-FFF2-40B4-BE49-F238E27FC236}">
                <a16:creationId xmlns:a16="http://schemas.microsoft.com/office/drawing/2014/main" id="{1FE5442D-075E-43A3-9FAC-A1CF292F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76500"/>
            <a:ext cx="1285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0AB7948-9A34-4049-9529-EDAA16EE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5270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Answer + citations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A30D303-96B6-4F8D-9C37-C349EF9E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C36"/>
                </a:solidFill>
              </a:defRPr>
            </a:pPr>
            <a:r>
              <a:rPr sz="1725" b="1">
                <a:solidFill>
                  <a:srgbClr val="173C36"/>
                </a:solidFill>
              </a:rPr>
              <a:t>Conversation memory can contextualize follow-up questions before retrieval.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8E2D821-E7F8-408E-AD31-5AF59D9C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06B"/>
                </a:solidFill>
              </a:defRPr>
            </a:pPr>
            <a:r>
              <a:rPr sz="1500" b="0">
                <a:solidFill>
                  <a:srgbClr val="64706B"/>
                </a:solidFill>
              </a:rPr>
              <a:t>Metadata travels with the result: publisher, title, category, type, date, URL and chunk identity.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D7EB891-B3BC-45BE-9222-FA78BF48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IMPLEMENTED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2B3D4EA-6C4E-4F36-832F-9FA1395D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37611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67503F27-6760-46F0-8194-55E39D1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ACB5F0-96AC-482A-9838-A872D5A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The model now chooses the right business tool—and explains why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2013BCC2-F16E-466C-AE18-0F520D87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8878E2B3-324E-4AC9-B1C2-8FCF6A71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C09391-A0FE-4245-A2CF-8ACC218B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BUSINESS ADVISOR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3FB16E-A7CE-4282-B473-033E8473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918"/>
                </a:solidFill>
              </a:defRPr>
            </a:pPr>
            <a:r>
              <a:rPr sz="1875" b="1">
                <a:solidFill>
                  <a:srgbClr val="101918"/>
                </a:solidFill>
              </a:rPr>
              <a:t>Combines a user question with retrieved knowledge and optional structured land evidence.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A032B3-81E6-4D09-9F99-2CC0F95D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842"/>
                </a:solidFill>
              </a:defRPr>
            </a:pPr>
            <a:r>
              <a:rPr sz="142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A855048-6862-4EDC-9F56-D48CA6B1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918"/>
                </a:solidFill>
              </a:defRPr>
            </a:pPr>
            <a:r>
              <a:rPr sz="1425" b="0">
                <a:solidFill>
                  <a:srgbClr val="101918"/>
                </a:solidFill>
              </a:rPr>
              <a:t>Grounded RAG context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20EE2A-95F5-4D20-99A1-E712F832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842"/>
                </a:solidFill>
              </a:defRPr>
            </a:pPr>
            <a:r>
              <a:rPr sz="142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0CC2A7-F30D-4900-AAA9-35AF4057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918"/>
                </a:solidFill>
              </a:defRPr>
            </a:pPr>
            <a:r>
              <a:rPr sz="1425" b="0">
                <a:solidFill>
                  <a:srgbClr val="101918"/>
                </a:solidFill>
              </a:rPr>
              <a:t>Conversation memory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A07EF8F-3CCD-4553-98D5-3531A1F3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842"/>
                </a:solidFill>
              </a:defRPr>
            </a:pPr>
            <a:r>
              <a:rPr sz="142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8AB390-60D6-4426-ADE6-57A220DF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918"/>
                </a:solidFill>
              </a:defRPr>
            </a:pPr>
            <a:r>
              <a:rPr sz="1425" b="0">
                <a:solidFill>
                  <a:srgbClr val="101918"/>
                </a:solidFill>
              </a:rPr>
              <a:t>Optional LandBusinessReport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C825E91-3403-4A16-BEE0-67E36AB5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62125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67FE8C4-2104-43B9-A4A9-D65C6680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81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LAND AGENT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E04D5F9-24AD-4D73-96FE-85E71AA6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2887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918"/>
                </a:solidFill>
              </a:defRPr>
            </a:pPr>
            <a:r>
              <a:rPr sz="1875" b="1">
                <a:solidFill>
                  <a:srgbClr val="101918"/>
                </a:solidFill>
              </a:rPr>
              <a:t>Conditionally runs location steps when vision finds address evidence; business analysis still runs without it.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CF8F37E-600B-4125-8D1B-83BEF223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147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842"/>
                </a:solidFill>
              </a:defRPr>
            </a:pPr>
            <a:r>
              <a:rPr sz="142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70C6D46-CCF9-47ED-BDA5-DFB402C2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918"/>
                </a:solidFill>
              </a:defRPr>
            </a:pPr>
            <a:r>
              <a:rPr sz="1425" b="0">
                <a:solidFill>
                  <a:srgbClr val="101918"/>
                </a:solidFill>
              </a:rPr>
              <a:t>Parser + vision tools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F0AA8BC-F64F-49EF-BFA0-E5A3155E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719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842"/>
                </a:solidFill>
              </a:defRPr>
            </a:pPr>
            <a:r>
              <a:rPr sz="142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D222340-395D-4ED2-94B4-C754935A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719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918"/>
                </a:solidFill>
              </a:defRPr>
            </a:pPr>
            <a:r>
              <a:rPr sz="1425" b="0">
                <a:solidFill>
                  <a:srgbClr val="101918"/>
                </a:solidFill>
              </a:rPr>
              <a:t>Geocoding + nearby lookup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EFF491E-461E-4BFA-AE65-94C9F116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29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7A842"/>
                </a:solidFill>
              </a:defRPr>
            </a:pPr>
            <a:r>
              <a:rPr sz="142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E6FFD45-E1E1-4A6B-80B1-1B44EAD1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29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918"/>
                </a:solidFill>
              </a:defRPr>
            </a:pPr>
            <a:r>
              <a:rPr sz="1425" b="0">
                <a:solidFill>
                  <a:srgbClr val="101918"/>
                </a:solidFill>
              </a:rPr>
              <a:t>Business analysis + report builder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4093C7F-0866-46BF-B8B7-F6D01A7B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C36"/>
                </a:solidFill>
              </a:defRPr>
            </a:pPr>
            <a:r>
              <a:rPr sz="1500" b="1">
                <a:solidFill>
                  <a:srgbClr val="173C36"/>
                </a:solidFill>
              </a:rPr>
              <a:t>A traced decision selects knowledge_search or business_advisor from the question, conversation history and available land evidence.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A067D87-BA9B-4A88-88FA-1FF19D9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MET • MODEL-DIRECTED TOOL CHOICE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E56915B-EB55-4C5E-B067-0E740DCC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81378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">
            <a:extLst xmlns:a="http://schemas.openxmlformats.org/drawingml/2006/main">
              <a:ext uri="{FF2B5EF4-FFF2-40B4-BE49-F238E27FC236}">
                <a16:creationId xmlns:a16="http://schemas.microsoft.com/office/drawing/2014/main" id="{27C28ADB-6134-4E8E-B138-F09AC4DD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AB0B19-B250-448E-9544-2DE59FB0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Land Intelligence preserves evidence from upload to recommendation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9E1A74BD-AEDE-4AF5-A376-CA681FDF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connector">
            <a:extLst xmlns:a="http://schemas.openxmlformats.org/drawingml/2006/main">
              <a:ext uri="{FF2B5EF4-FFF2-40B4-BE49-F238E27FC236}">
                <a16:creationId xmlns:a16="http://schemas.microsoft.com/office/drawing/2014/main" id="{1B386A18-2342-4247-A0A1-BE77D838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5" name="Upload">
            <a:extLst xmlns:a="http://schemas.openxmlformats.org/drawingml/2006/main">
              <a:ext uri="{FF2B5EF4-FFF2-40B4-BE49-F238E27FC236}">
                <a16:creationId xmlns:a16="http://schemas.microsoft.com/office/drawing/2014/main" id="{F728449E-A32C-4AD3-B203-4BF9DF95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583F92-4C44-4633-8FBE-EA9254C3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Upload</a:t>
            </a:r>
          </a:p>
        </p:txBody>
      </p:sp>
      <p:sp>
        <p:nvSpPr>
          <p:cNvPr id="7" name="connector">
            <a:extLst xmlns:a="http://schemas.openxmlformats.org/drawingml/2006/main">
              <a:ext uri="{FF2B5EF4-FFF2-40B4-BE49-F238E27FC236}">
                <a16:creationId xmlns:a16="http://schemas.microsoft.com/office/drawing/2014/main" id="{0582BEFA-F034-4EB9-9043-E5FF8148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62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8" name="Parse">
            <a:extLst xmlns:a="http://schemas.openxmlformats.org/drawingml/2006/main">
              <a:ext uri="{FF2B5EF4-FFF2-40B4-BE49-F238E27FC236}">
                <a16:creationId xmlns:a16="http://schemas.microsoft.com/office/drawing/2014/main" id="{9FC2C959-9E08-4A9C-9044-2C33B1F1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2887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CDD6EA0-6546-433A-BDC6-AE9C3A59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050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Parse</a:t>
            </a:r>
          </a:p>
        </p:txBody>
      </p:sp>
      <p:sp>
        <p:nvSpPr>
          <p:cNvPr id="10" name="connector">
            <a:extLst xmlns:a="http://schemas.openxmlformats.org/drawingml/2006/main">
              <a:ext uri="{FF2B5EF4-FFF2-40B4-BE49-F238E27FC236}">
                <a16:creationId xmlns:a16="http://schemas.microsoft.com/office/drawing/2014/main" id="{0ED49F77-DB4E-452F-98D0-7FCA5079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11" name="Vision">
            <a:extLst xmlns:a="http://schemas.openxmlformats.org/drawingml/2006/main">
              <a:ext uri="{FF2B5EF4-FFF2-40B4-BE49-F238E27FC236}">
                <a16:creationId xmlns:a16="http://schemas.microsoft.com/office/drawing/2014/main" id="{5319F9F2-B8C1-459F-9E53-7B1C74DA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887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2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1A43200-B72B-4F3E-949B-DAEBA15A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050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Vision</a:t>
            </a:r>
          </a:p>
        </p:txBody>
      </p:sp>
      <p:sp>
        <p:nvSpPr>
          <p:cNvPr id="13" name="connector">
            <a:extLst xmlns:a="http://schemas.openxmlformats.org/drawingml/2006/main">
              <a:ext uri="{FF2B5EF4-FFF2-40B4-BE49-F238E27FC236}">
                <a16:creationId xmlns:a16="http://schemas.microsoft.com/office/drawing/2014/main" id="{1FF5F29E-C5E2-4A06-B352-BF36BFC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14" name="Place">
            <a:extLst xmlns:a="http://schemas.openxmlformats.org/drawingml/2006/main">
              <a:ext uri="{FF2B5EF4-FFF2-40B4-BE49-F238E27FC236}">
                <a16:creationId xmlns:a16="http://schemas.microsoft.com/office/drawing/2014/main" id="{972741C7-14B2-4C9C-8012-206DF3E7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3FEEC69-8456-4D06-AEFC-65A81BDA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050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Place</a:t>
            </a:r>
          </a:p>
        </p:txBody>
      </p:sp>
      <p:sp>
        <p:nvSpPr>
          <p:cNvPr id="16" name="connector">
            <a:extLst xmlns:a="http://schemas.openxmlformats.org/drawingml/2006/main">
              <a:ext uri="{FF2B5EF4-FFF2-40B4-BE49-F238E27FC236}">
                <a16:creationId xmlns:a16="http://schemas.microsoft.com/office/drawing/2014/main" id="{0EDEF66B-F1B6-4D59-AEE6-0DB4C2B1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17" name="Locate">
            <a:extLst xmlns:a="http://schemas.openxmlformats.org/drawingml/2006/main">
              <a:ext uri="{FF2B5EF4-FFF2-40B4-BE49-F238E27FC236}">
                <a16:creationId xmlns:a16="http://schemas.microsoft.com/office/drawing/2014/main" id="{E9D62383-A229-4412-9642-E5A50B2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C1E0582-A1E0-40AA-BCFB-7D7C246A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Locate</a:t>
            </a:r>
          </a:p>
        </p:txBody>
      </p:sp>
      <p:sp>
        <p:nvSpPr>
          <p:cNvPr id="19" name="connector">
            <a:extLst xmlns:a="http://schemas.openxmlformats.org/drawingml/2006/main">
              <a:ext uri="{FF2B5EF4-FFF2-40B4-BE49-F238E27FC236}">
                <a16:creationId xmlns:a16="http://schemas.microsoft.com/office/drawing/2014/main" id="{1629E740-7FB6-4D9D-80B5-24E58566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20" name="Nearby">
            <a:extLst xmlns:a="http://schemas.openxmlformats.org/drawingml/2006/main">
              <a:ext uri="{FF2B5EF4-FFF2-40B4-BE49-F238E27FC236}">
                <a16:creationId xmlns:a16="http://schemas.microsoft.com/office/drawing/2014/main" id="{4646D6CA-4440-4990-ACB6-CBE9500B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20BA828-B078-437D-90B9-DCF77822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050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Nearby</a:t>
            </a:r>
          </a:p>
        </p:txBody>
      </p:sp>
      <p:sp>
        <p:nvSpPr>
          <p:cNvPr id="22" name="connector">
            <a:extLst xmlns:a="http://schemas.openxmlformats.org/drawingml/2006/main">
              <a:ext uri="{FF2B5EF4-FFF2-40B4-BE49-F238E27FC236}">
                <a16:creationId xmlns:a16="http://schemas.microsoft.com/office/drawing/2014/main" id="{AD5A94CB-81E9-40C4-8557-D4F332C4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62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61"/>
            </a:solidFill>
            <a:prstDash val="solid"/>
          </a:ln>
        </p:spPr>
      </p:sp>
      <p:sp>
        <p:nvSpPr>
          <p:cNvPr id="23" name="Analyse">
            <a:extLst xmlns:a="http://schemas.openxmlformats.org/drawingml/2006/main">
              <a:ext uri="{FF2B5EF4-FFF2-40B4-BE49-F238E27FC236}">
                <a16:creationId xmlns:a16="http://schemas.microsoft.com/office/drawing/2014/main" id="{58ED2C55-3039-4E5C-94C0-575A9CB2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52166B2-353C-4286-8F56-B4B16973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050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Analyse</a:t>
            </a:r>
          </a:p>
        </p:txBody>
      </p:sp>
      <p:sp>
        <p:nvSpPr>
          <p:cNvPr id="25" name="Report">
            <a:extLst xmlns:a="http://schemas.openxmlformats.org/drawingml/2006/main">
              <a:ext uri="{FF2B5EF4-FFF2-40B4-BE49-F238E27FC236}">
                <a16:creationId xmlns:a16="http://schemas.microsoft.com/office/drawing/2014/main" id="{B0F352ED-1767-4DC1-B03D-B3EC297C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2887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BA08057-D158-49D5-8049-64C0810E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050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Report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83E2470-361E-4FE2-96BF-6F5956EC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C36"/>
                </a:solidFill>
              </a:defRPr>
            </a:pPr>
            <a:r>
              <a:rPr sz="1725" b="1">
                <a:solidFill>
                  <a:srgbClr val="173C36"/>
                </a:solidFill>
              </a:rPr>
              <a:t>Observed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BF5921D-B4FF-4BF3-9DC2-81B909F0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boundaries, extent, access, visible text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B9506FA-D4E4-47AC-8599-83BEC7A5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C36"/>
                </a:solidFill>
              </a:defRPr>
            </a:pPr>
            <a:r>
              <a:rPr sz="1725" b="1">
                <a:solidFill>
                  <a:srgbClr val="173C36"/>
                </a:solidFill>
              </a:rPr>
              <a:t>Enriched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E88344D-5304-4BE8-B0A5-8E107882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86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coordinates, match confidence, roads, amenities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B1677E9-2AB7-47A5-99E7-20F20F81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C36"/>
                </a:solidFill>
              </a:defRPr>
            </a:pPr>
            <a:r>
              <a:rPr sz="1725" b="1">
                <a:solidFill>
                  <a:srgbClr val="173C36"/>
                </a:solidFill>
              </a:rPr>
              <a:t>Reasoned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5A1DC20-828C-4E23-B90C-748F64E0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opportunities, risks, missing verification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817E0F1-0901-486C-B62B-8D2023A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IMPLEMENTED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ACE7B6F7-2B2A-4607-AEF1-FFE7EE55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737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BDDFC5E-2ECB-41A3-AC14-D65CB19B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35FB81-A986-4FA5-9CE2-5AEACA25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Multimodal analysis makes survey plans usable as decision evidence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281FC811-D325-4604-B291-1D0BDC3C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AB3F77F2-4923-4D2B-9889-285CAE9C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7E8468-9EBC-45F7-A1C9-6E54FF39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842"/>
                </a:solidFill>
              </a:defRPr>
            </a:pPr>
            <a:r>
              <a:rPr sz="1200" b="1">
                <a:solidFill>
                  <a:srgbClr val="D7A842"/>
                </a:solidFill>
              </a:rPr>
              <a:t>PDF  •  PNG  •  JPEG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921361-FB0C-4E84-A492-D9EB6CA9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Vision extracts what plain text retrieval cannot see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F526853-465F-44A8-B118-526011A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E5E0"/>
                </a:solidFill>
              </a:defRPr>
            </a:pPr>
            <a:r>
              <a:rPr sz="1500" b="0">
                <a:solidFill>
                  <a:srgbClr val="D9E5E0"/>
                </a:solidFill>
              </a:rPr>
              <a:t>Per-page processing supports multi-page documents and retains page-level evidence.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4E4FE9-D8FC-4719-84A5-14C7740E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918"/>
                </a:solidFill>
              </a:defRPr>
            </a:pPr>
            <a:r>
              <a:rPr sz="1725" b="1">
                <a:solidFill>
                  <a:srgbClr val="101918"/>
                </a:solidFill>
              </a:rPr>
              <a:t>Outputs used downstream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085C47-D2D3-49CC-8D20-35A69FCE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A842"/>
                </a:solidFill>
              </a:defRPr>
            </a:pPr>
            <a:r>
              <a:rPr sz="172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B6DB91C-7180-44DF-BE8A-CF6DA7DB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918"/>
                </a:solidFill>
              </a:defRPr>
            </a:pPr>
            <a:r>
              <a:rPr sz="1725" b="0">
                <a:solidFill>
                  <a:srgbClr val="101918"/>
                </a:solidFill>
              </a:rPr>
              <a:t>Location fragments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E43951C-5708-4216-B117-AD0E6EB5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A842"/>
                </a:solidFill>
              </a:defRPr>
            </a:pPr>
            <a:r>
              <a:rPr sz="172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1FB527-1829-4C7C-A854-B551C746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918"/>
                </a:solidFill>
              </a:defRPr>
            </a:pPr>
            <a:r>
              <a:rPr sz="1725" b="0">
                <a:solidFill>
                  <a:srgbClr val="101918"/>
                </a:solidFill>
              </a:rPr>
              <a:t>Land extent and units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05B153-D97F-4788-B82F-9B2F1D3E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A842"/>
                </a:solidFill>
              </a:defRPr>
            </a:pPr>
            <a:r>
              <a:rPr sz="172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A8032F5-568E-49AF-A32E-991E88A8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918"/>
                </a:solidFill>
              </a:defRPr>
            </a:pPr>
            <a:r>
              <a:rPr sz="1725" b="0">
                <a:solidFill>
                  <a:srgbClr val="101918"/>
                </a:solidFill>
              </a:rPr>
              <a:t>Road access and boundaries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486C5F5-E502-465E-BDF6-CD0CB9D9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7A842"/>
                </a:solidFill>
              </a:defRPr>
            </a:pPr>
            <a:r>
              <a:rPr sz="172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100F3B5-34F7-4CE4-A29C-E52AA031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918"/>
                </a:solidFill>
              </a:defRPr>
            </a:pPr>
            <a:r>
              <a:rPr sz="1725" b="0">
                <a:solidFill>
                  <a:srgbClr val="101918"/>
                </a:solidFill>
              </a:rPr>
              <a:t>Visible constraints and missing fields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C7AEB0C-900C-435F-B9F4-204211F5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IMPLEMENTED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F472703-4E4F-4A75-9C02-B22FB5FB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7021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62832580-2FB2-453D-899F-2FBAD644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C09704-2FF2-4EEB-A811-3B681858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Geospatial enrichment adds confidence—not false precision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10F3F5F7-5022-4BC3-87B7-67EC9595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FAE7DF4-85F2-44BB-9A47-6E6CBD51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7A842"/>
                </a:solidFill>
              </a:defRPr>
            </a:pPr>
            <a:r>
              <a:rPr sz="2625" b="1">
                <a:solidFill>
                  <a:srgbClr val="D7A842"/>
                </a:solidFill>
              </a:rPr>
              <a:t>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CA23EA-9B61-42DB-AB8B-5294B6EC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21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8"/>
                </a:solidFill>
              </a:defRPr>
            </a:pPr>
            <a:r>
              <a:rPr sz="1800" b="1">
                <a:solidFill>
                  <a:srgbClr val="101918"/>
                </a:solidFill>
              </a:rPr>
              <a:t>Normalize visible place text into a Sri Lanka-focused query.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57F4E8-6B42-44DF-81E4-E818FF55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7A842"/>
                </a:solidFill>
              </a:defRPr>
            </a:pPr>
            <a:r>
              <a:rPr sz="2625" b="1">
                <a:solidFill>
                  <a:srgbClr val="D7A842"/>
                </a:solidFill>
              </a:rPr>
              <a:t>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F99030-19B1-4B12-8957-B83FE310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8"/>
                </a:solidFill>
              </a:defRPr>
            </a:pPr>
            <a:r>
              <a:rPr sz="1800" b="1">
                <a:solidFill>
                  <a:srgbClr val="101918"/>
                </a:solidFill>
              </a:rPr>
              <a:t>Nominatim returns coordinates, match level and confidence.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3C08462-A360-4619-8B41-F3E8C74A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7A842"/>
                </a:solidFill>
              </a:defRPr>
            </a:pPr>
            <a:r>
              <a:rPr sz="2625" b="1">
                <a:solidFill>
                  <a:srgbClr val="D7A842"/>
                </a:solidFill>
              </a:rPr>
              <a:t>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8FF575F-1210-4100-B216-3A8CBEF6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918"/>
                </a:solidFill>
              </a:defRPr>
            </a:pPr>
            <a:r>
              <a:rPr sz="1800" b="1">
                <a:solidFill>
                  <a:srgbClr val="101918"/>
                </a:solidFill>
              </a:rPr>
              <a:t>Overpass finds nearby roads and amenities with straight-line distances.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CC4DAF65-FBC4-4DBD-AFAA-84E7A1B1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476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CF197E-3565-4C03-9C06-1E6D6D60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D61"/>
                </a:solidFill>
              </a:defRPr>
            </a:pPr>
            <a:r>
              <a:rPr sz="1125" b="1">
                <a:solidFill>
                  <a:srgbClr val="2F6D61"/>
                </a:solidFill>
              </a:rPr>
              <a:t>DECISION RULE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543B40-695F-4C18-BA4D-83A96003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C36"/>
                </a:solidFill>
              </a:defRPr>
            </a:pPr>
            <a:r>
              <a:rPr sz="2400" b="1">
                <a:solidFill>
                  <a:srgbClr val="173C36"/>
                </a:solidFill>
              </a:rPr>
              <a:t>Broad or failed matches remain explicit.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6CF269-D8B7-4FF6-A689-35189858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76625"/>
            <a:ext cx="371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B"/>
                </a:solidFill>
              </a:defRPr>
            </a:pPr>
            <a:r>
              <a:rPr sz="1575" b="0">
                <a:solidFill>
                  <a:srgbClr val="64706B"/>
                </a:solidFill>
              </a:rPr>
              <a:t>External service failure returns fallback data instead of aborting the full document analysis.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3DE023A-3AD7-4848-982B-A72BA543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IMPLEMENTED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8054834-5949-4489-884B-740B870C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9936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780C1DBF-0ACE-44BC-939D-BF7C2220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22367F-D77A-4154-8A8A-E2721858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The demo tells one connected story across three user modes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3E4572BF-9FF1-4FAC-911F-B5E29402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E1D4CD9-F3EA-4161-AF8F-D0384780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A842"/>
                </a:solidFill>
              </a:defRPr>
            </a:pPr>
            <a:r>
              <a:rPr sz="2400" b="1">
                <a:solidFill>
                  <a:srgbClr val="D7A842"/>
                </a:solidFill>
              </a:rPr>
              <a:t>1</a:t>
            </a:r>
          </a:p>
        </p:txBody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60993840-1DD8-490B-8A3F-F65F029D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932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B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445EE4-0A88-4810-8E8F-41FCC314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ASK AI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5C2A6BF-0495-4B10-9893-6097F367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764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918"/>
                </a:solidFill>
              </a:defRPr>
            </a:pPr>
            <a:r>
              <a:rPr sz="1650" b="0">
                <a:solidFill>
                  <a:srgbClr val="101918"/>
                </a:solidFill>
              </a:rPr>
              <a:t>Ask an investment question; inspect cited publisher and document metadata.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FA1FE2-5C29-46D9-9FA6-1F27EC54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A842"/>
                </a:solidFill>
              </a:defRPr>
            </a:pPr>
            <a:r>
              <a:rPr sz="2400" b="1">
                <a:solidFill>
                  <a:srgbClr val="D7A842"/>
                </a:solidFill>
              </a:rPr>
              <a:t>2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2FA82281-468E-49D5-9B77-B54A97AE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805A6EE-502D-40B5-8F04-76DC5BF3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HISTORY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2EF8FC8-95CB-48E1-B953-B1C80609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76525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918"/>
                </a:solidFill>
              </a:defRPr>
            </a:pPr>
            <a:r>
              <a:rPr sz="1650" b="0">
                <a:solidFill>
                  <a:srgbClr val="101918"/>
                </a:solidFill>
              </a:rPr>
              <a:t>Ask a follow-up; reopen the transcript from the responsive sidebar.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85C73D-71EC-4891-BA27-26F508AC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A842"/>
                </a:solidFill>
              </a:defRPr>
            </a:pPr>
            <a:r>
              <a:rPr sz="2400" b="1">
                <a:solidFill>
                  <a:srgbClr val="D7A842"/>
                </a:solidFill>
              </a:rPr>
              <a:t>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072878E1-61FC-4C11-8311-0846E15A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95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B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4BFF05F-9024-40D3-8F8C-547C26A5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LAND INTELLIGENCE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D7450CC-E967-4BF4-9179-D1EADF83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7665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918"/>
                </a:solidFill>
              </a:defRPr>
            </a:pPr>
            <a:r>
              <a:rPr sz="1650" b="0">
                <a:solidFill>
                  <a:srgbClr val="101918"/>
                </a:solidFill>
              </a:rPr>
              <a:t>Upload a clear plan; inspect evidence, confidence, nearby context and risks.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764585C-0970-450A-B88B-8FB64BCF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47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7A842"/>
                </a:solidFill>
              </a:defRPr>
            </a:pPr>
            <a:r>
              <a:rPr sz="2400" b="1">
                <a:solidFill>
                  <a:srgbClr val="D7A842"/>
                </a:solidFill>
              </a:rPr>
              <a:t>4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E38D7463-B54B-4C30-98CC-20DE8DB5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B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016EC63-45FA-4BFF-9C38-D2A8A28B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14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BUSINESS ADVISOR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0C3BDB9-3A9E-4FB5-82D8-79E6299E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76775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918"/>
                </a:solidFill>
              </a:defRPr>
            </a:pPr>
            <a:r>
              <a:rPr sz="1650" b="0">
                <a:solidFill>
                  <a:srgbClr val="101918"/>
                </a:solidFill>
              </a:rPr>
              <a:t>Pass the structured land report into an evidence-led recommendation.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59530A3-81CE-45C4-B671-925F5F99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IMPLEMENTED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5760959-6BB8-4D31-AF46-EB46ED45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65416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7E7B063F-6ACE-404A-9BB6-81BE5943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FED1AB-F871-4EDE-8B08-1B593CCF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Evaluation measures retrieval and end-to-end answer quality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D0727A28-5ABE-49D3-92E2-4259DF07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CF7ADE93-1DBF-41BC-9DCA-CF7191E2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813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E3C62C1-64E5-4FF9-9030-327EC133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C36"/>
                </a:solidFill>
              </a:defRPr>
            </a:pPr>
            <a:r>
              <a:rPr sz="3600" b="1">
                <a:solidFill>
                  <a:srgbClr val="173C36"/>
                </a:solidFill>
              </a:rPr>
              <a:t>30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94D3FE2-F2D9-4666-A0B5-AE3293B3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RAG questions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B9B308A-E576-41CB-95FD-CED5F20A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8 categories spanning economy, investment, agriculture, export, statistics, tourism, tax and cross-domain.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C8FD3039-81AD-4CB4-A8E1-8C90FD3F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14500"/>
            <a:ext cx="33813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BB0EEE-F5AD-48ED-A642-B561D900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5262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C36"/>
                </a:solidFill>
              </a:defRPr>
            </a:pPr>
            <a:r>
              <a:rPr sz="3600" b="1">
                <a:solidFill>
                  <a:srgbClr val="173C36"/>
                </a:solidFill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438611A-47DB-49AB-9D52-E86D379B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controlled systems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CF20E4B-8CAD-43B2-AB94-997A2323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2809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Vector-only top 3 versus cross-encoder reranked top 3 from the same 20 candidates.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82525B29-D205-4AEB-A800-BB994CA5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3813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829C6FF-5F9F-485F-8054-95DFFCFD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C36"/>
                </a:solidFill>
              </a:defRPr>
            </a:pPr>
            <a:r>
              <a:rPr sz="3600" b="1">
                <a:solidFill>
                  <a:srgbClr val="173C36"/>
                </a:solidFill>
              </a:rPr>
              <a:t>30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721EB95-BB01-486B-8D9A-D07E5338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graded answers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2EFA20C-5E1C-43B6-9F4F-321D5324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90875"/>
            <a:ext cx="2809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Structured LLM rubric: groundedness, relevance, citation quality and unsupported claims—subject to manual spot-checking.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C5153E4-4963-4401-8D2D-FA93A50A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IMPLEMENTED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6A676C8-96EB-4C09-9852-3BE4BB27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33106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6395C594-4B9D-4F69-95C8-578D44E3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4F332-B3A2-4608-9D07-BE2C0892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Current evidence says reranking needs tuning on this corpus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088A3E03-8650-4632-BBD8-12424E59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8d033a0c614a6d"/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06A82F-B3BF-492F-95A9-64B49731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30 tasks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247A60-DA48-429D-A097-08DECD61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918"/>
                </a:solidFill>
              </a:defRPr>
            </a:pPr>
            <a:r>
              <a:rPr sz="2550" b="1">
                <a:solidFill>
                  <a:srgbClr val="101918"/>
                </a:solidFill>
              </a:rPr>
              <a:t>Vector-only leads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303536-02DD-42B3-9DD3-5947D976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95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4B3E"/>
                </a:solidFill>
              </a:defRPr>
            </a:pPr>
            <a:r>
              <a:rPr sz="1650" b="1">
                <a:solidFill>
                  <a:srgbClr val="B44B3E"/>
                </a:solidFill>
              </a:rPr>
              <a:t>70.0% vs 66.7% Hit@3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F33107-DEB1-4864-8372-36EFD256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6B"/>
                </a:solidFill>
              </a:defRPr>
            </a:pPr>
            <a:r>
              <a:rPr sz="1425" b="0">
                <a:solidFill>
                  <a:srgbClr val="64706B"/>
                </a:solidFill>
              </a:rPr>
              <a:t>The production reranker is implemented, but the current benchmark does not show a gain. Corpus coverage and reranker tuning are next.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E4E9EDA-0823-454D-A005-96F94481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MEASURED • 24 AUG 2026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7935E33-96C7-4B85-B337-7027E389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890118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670E4CFE-A140-4D55-86F4-EF691B99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D660B8-4325-48CB-A3B7-E621BD79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Category results reveal where the corpus is strong—and where it is thin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409BB1C9-3F40-4507-91FC-CCA75F77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9EC8DC9-C6D4-4029-A006-C9A9E137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Investment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0E2CBFB1-69DB-43F1-AA2C-8ED406E8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7716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29345450-D230-4FFF-AC89-C255BCCD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7716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DED7B3C-3445-4F55-8E7B-553D9432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714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64706B"/>
                </a:solidFill>
              </a:defRPr>
            </a:pPr>
            <a:r>
              <a:rPr sz="1425" b="1">
                <a:solidFill>
                  <a:srgbClr val="64706B"/>
                </a:solidFill>
              </a:rPr>
              <a:t>100%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EBCBE55-91CD-4DE8-BBCB-AD035C96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14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Cross-domain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38DB70CD-F2A3-4FC6-87D4-262BCDD7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7716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EE2771FC-7A66-4766-971C-609C512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7716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635F5B-2CFD-41D3-8F38-FE350ECA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714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64706B"/>
                </a:solidFill>
              </a:defRPr>
            </a:pPr>
            <a:r>
              <a:rPr sz="1425" b="1">
                <a:solidFill>
                  <a:srgbClr val="64706B"/>
                </a:solidFill>
              </a:rPr>
              <a:t>100%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B99CFF4-A5F9-4375-A0B3-F21E79C4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Agriculture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7F09C76-F7B6-4B2E-9F15-3232D1A1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717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763B0755-D6B9-4B6C-B32C-54E4AF26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7177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6D64070-4EB7-4008-A33D-FECD7E10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714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64706B"/>
                </a:solidFill>
              </a:defRPr>
            </a:pPr>
            <a:r>
              <a:rPr sz="1425" b="1">
                <a:solidFill>
                  <a:srgbClr val="64706B"/>
                </a:solidFill>
              </a:rPr>
              <a:t>80%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879E920-4A6B-426B-A296-96422BB4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14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Export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F4A15735-FDBE-42F8-9DC1-BA9F245B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717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8BBEA376-97F7-4ACB-A75E-2522353E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71775"/>
            <a:ext cx="1828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B91E598-4A95-4060-A1E8-E97E8898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714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64706B"/>
                </a:solidFill>
              </a:defRPr>
            </a:pPr>
            <a:r>
              <a:rPr sz="1425" b="1">
                <a:solidFill>
                  <a:srgbClr val="64706B"/>
                </a:solidFill>
              </a:rPr>
              <a:t>80%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CC27316-F47A-44F2-B943-B481EDFA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Tourism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1CDD569D-DA61-42D1-AC19-BB9B1FFE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719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A3D1C73C-5199-457A-90B7-5E0678F6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71900"/>
            <a:ext cx="152476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773B55B-3F56-4F40-A5CD-8C57E828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147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64706B"/>
                </a:solidFill>
              </a:defRPr>
            </a:pPr>
            <a:r>
              <a:rPr sz="1425" b="1">
                <a:solidFill>
                  <a:srgbClr val="64706B"/>
                </a:solidFill>
              </a:rPr>
              <a:t>66.7%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3FD3CFD-B40C-4797-8A3D-1D4B6A1D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Economy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A42FAA48-83A6-4FA8-8D74-71ABF156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719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6ECF5509-9639-4F29-8033-0ED390C6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719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9481620-1BA7-4FE0-9A78-2DA575FC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7147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64706B"/>
                </a:solidFill>
              </a:defRPr>
            </a:pPr>
            <a:r>
              <a:rPr sz="1425" b="1">
                <a:solidFill>
                  <a:srgbClr val="64706B"/>
                </a:solidFill>
              </a:rPr>
              <a:t>60%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617AC13-765E-473C-892C-E96A8446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Statistics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5A1EB3DA-F42F-426B-B81A-CC47201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7720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6E91FFAD-B911-4616-8489-C37A6FB7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772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74E5480-6730-4B5C-83D6-6B2D4187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7148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64706B"/>
                </a:solidFill>
              </a:defRPr>
            </a:pPr>
            <a:r>
              <a:rPr sz="1425" b="1">
                <a:solidFill>
                  <a:srgbClr val="64706B"/>
                </a:solidFill>
              </a:rPr>
              <a:t>20%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63AA0BC-F9AC-4436-8AE5-6266CE2A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148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918"/>
                </a:solidFill>
              </a:defRPr>
            </a:pPr>
            <a:r>
              <a:rPr sz="1650" b="1">
                <a:solidFill>
                  <a:srgbClr val="101918"/>
                </a:solidFill>
              </a:rPr>
              <a:t>Tax &amp; compliance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C66D1B66-E147-4842-863B-6377E65E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720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ox">
            <a:extLst xmlns:a="http://schemas.openxmlformats.org/drawingml/2006/main">
              <a:ext uri="{FF2B5EF4-FFF2-40B4-BE49-F238E27FC236}">
                <a16:creationId xmlns:a16="http://schemas.microsoft.com/office/drawing/2014/main" id="{8B78CC72-5081-48DA-92ED-A2BC12FA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72025"/>
            <a:ext cx="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975503E6-5274-4159-9409-6002F226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47148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64706B"/>
                </a:solidFill>
              </a:defRPr>
            </a:pPr>
            <a:r>
              <a:rPr sz="1425" b="1">
                <a:solidFill>
                  <a:srgbClr val="64706B"/>
                </a:solidFill>
              </a:rPr>
              <a:t>0%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B81A3A5B-E3C6-4D8A-BB32-95BBA2F8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MEASURED • PRODUCTION PATH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C5AC5A5D-2565-493E-B149-4F6398DF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36032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97505EAE-FEF8-406D-8DF3-7685E151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159747-B0EF-421C-B061-84939ABF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Land evaluation is designed; execution still needs consented fixtures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C430A2C5-C6D5-42EF-921A-530E11E1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B87E4D4-D805-4FCE-A71D-383FDC6D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C36"/>
                </a:solidFill>
              </a:defRPr>
            </a:pPr>
            <a:r>
              <a:rPr sz="2850" b="1">
                <a:solidFill>
                  <a:srgbClr val="173C36"/>
                </a:solidFill>
              </a:rPr>
              <a:t>6 task specifications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361654-8C20-4B6E-BD1A-4B168CBB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ACDACC-5ADC-4AE0-9988-6069E77F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Clear image extraction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81CA2A-FF86-4AEA-BC35-D6F96AEA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E6BD04-027C-4749-9CDA-15E8D04E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Multi-page PDF processing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2D0F1E3-A681-4779-A792-4B2B64D6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D54EBD-2DD4-4356-8EA2-8BFF393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Missing-location behavior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A20CE26-3CBC-4C97-8407-C56DA9CA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EBE2749-B132-4B1B-8CCB-C38AAD51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Broad geocode fallback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AD5C8FC-F9A0-4EAC-829D-11EB77FF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3A071A2-2A3E-4291-AC99-DF43AC91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Nearby infrastructure completeness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68A3A9E-0C2D-4D68-942B-7D1D3442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842"/>
                </a:solidFill>
              </a:defRPr>
            </a:pPr>
            <a:r>
              <a:rPr sz="1500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9FE158C-F12E-4AF1-8046-122EAE75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Tourism business assessment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5A99BED7-9D81-4554-89A2-9058EF0E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476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A2D21F5-1425-41FB-8B5C-DE3C5336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478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4B3E"/>
                </a:solidFill>
              </a:defRPr>
            </a:pPr>
            <a:r>
              <a:rPr sz="1200" b="1">
                <a:solidFill>
                  <a:srgbClr val="B44B3E"/>
                </a:solidFill>
              </a:rPr>
              <a:t>PENDING VALIDATION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4B4D270-9BB8-4680-B9B9-49F81716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24125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918"/>
                </a:solidFill>
              </a:defRPr>
            </a:pPr>
            <a:r>
              <a:rPr sz="2325" b="1">
                <a:solidFill>
                  <a:srgbClr val="101918"/>
                </a:solidFill>
              </a:rPr>
              <a:t>No end-to-end land score is reported yet.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AA3D923-102E-4675-A7DE-A7AA87A4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71875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6B"/>
                </a:solidFill>
              </a:defRPr>
            </a:pPr>
            <a:r>
              <a:rPr sz="1425" b="0">
                <a:solidFill>
                  <a:srgbClr val="64706B"/>
                </a:solidFill>
              </a:rPr>
              <a:t>Final run should record field completeness, invalid JSON, geocode outcome, nearby-data completeness, uncertainty, latency and trace coverage.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89CBDD3-8BCD-432F-9439-B397D482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4B3E"/>
                </a:solidFill>
              </a:defRPr>
            </a:pPr>
            <a:r>
              <a:rPr sz="825" b="1">
                <a:solidFill>
                  <a:srgbClr val="B44B3E"/>
                </a:solidFill>
              </a:rPr>
              <a:t>PENDING • FIXTURES REQUIRED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C12F5D2-AD45-45A7-A068-54D0BE69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55206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kicker">
            <a:extLst xmlns:a="http://schemas.openxmlformats.org/drawingml/2006/main">
              <a:ext uri="{FF2B5EF4-FFF2-40B4-BE49-F238E27FC236}">
                <a16:creationId xmlns:a16="http://schemas.microsoft.com/office/drawing/2014/main" id="{C2237D83-B4C0-440F-945B-35F44D29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4627C1-061C-4657-97F8-ADCEC449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LangSmith makes routing and Land Intelligence inspectable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038FD61B-A5BA-49C9-B3C1-17C21B63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F0BB29BA-9204-4209-897C-AB9C8C5C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8547D4-2164-4C03-BDF9-458F3768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Land Intelligence Analysis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6C0B6038-E4C7-44B3-86CB-EA79EC78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9325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FE01A4-E68A-45CE-A553-2E83D583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574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Parse Land Document</a:t>
            </a:r>
          </a:p>
        </p:txBody>
      </p:sp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27623B85-0740-49A9-97CB-C45D93DE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B"/>
            </a:solidFill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6A6C5230-53C5-4294-BCA0-4F7BE51E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71775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AC90696-7A22-4AE6-9C28-DF85C796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987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Vision Evidence Extraction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03788755-BC2B-455F-88CB-DB1B3915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B"/>
            </a:solidFill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8CF9A30D-CC0B-4B66-A90E-1233EEEC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24225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007B003-B43A-4714-A81A-D882C047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623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Normalize Location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8215C0A-3F6F-400E-9EBD-8D49BD37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B"/>
            </a:solidFill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9133B747-44AE-4BA4-B00F-52A5B357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6675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7DD9430-AF4C-4E9A-ACAF-61FA883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1477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Geolocate and Enrich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BE43865A-3A80-4004-9610-2D50575C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B"/>
            </a:solidFill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F6ED2158-55FC-4F7F-8F69-660041E0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7C57A5D-C864-4575-BE39-FE2AFFC1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672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Nearby OSM Intelligence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8AC9BC33-0F71-4A82-8A4E-E8796526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B"/>
            </a:solidFill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C6BC5425-2AEE-44BB-B898-654A6DF5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81575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39B4050-18F2-42B4-BB47-CF84D2D0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1967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Land Business Analysis</a:t>
            </a:r>
          </a:p>
        </p:txBody>
      </p:sp>
      <p:sp>
        <p:nvSpPr>
          <p:cNvPr id="23" name="line">
            <a:extLst xmlns:a="http://schemas.openxmlformats.org/drawingml/2006/main">
              <a:ext uri="{FF2B5EF4-FFF2-40B4-BE49-F238E27FC236}">
                <a16:creationId xmlns:a16="http://schemas.microsoft.com/office/drawing/2014/main" id="{5D7E5E60-95DF-4A5C-80F0-84E08295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B"/>
            </a:solidFill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E796328E-14B5-49A0-8F40-7EB38515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34025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8F70C45-0A97-4006-8ED5-2F6A04ED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721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918"/>
                </a:solidFill>
              </a:defRPr>
            </a:pPr>
            <a:r>
              <a:rPr sz="1350" b="1">
                <a:solidFill>
                  <a:srgbClr val="101918"/>
                </a:solidFill>
              </a:rPr>
              <a:t>Build Report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74E9353B-9562-4563-BC87-5E68D75C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0BB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081D6B8-6D42-419D-B79D-B5CCEC9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C36"/>
                </a:solidFill>
              </a:defRPr>
            </a:pPr>
            <a:r>
              <a:rPr sz="1800" b="1">
                <a:solidFill>
                  <a:srgbClr val="173C36"/>
                </a:solidFill>
              </a:rPr>
              <a:t>Verified trace evidence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55D5466-95E6-4244-A768-9FB5B93E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42"/>
                </a:solidFill>
              </a:defRPr>
            </a:pPr>
            <a:r>
              <a:rPr sz="157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15BF67B-BED8-4A3D-944C-921CAD4D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8"/>
                </a:solidFill>
              </a:defRPr>
            </a:pPr>
            <a:r>
              <a:rPr sz="1575" b="0">
                <a:solidFill>
                  <a:srgbClr val="101918"/>
                </a:solidFill>
              </a:rPr>
              <a:t>Parent Business Copilot Agent span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EAD62D2-407D-421D-A0A7-12639449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42"/>
                </a:solidFill>
              </a:defRPr>
            </a:pPr>
            <a:r>
              <a:rPr sz="157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1A23BDC-8F7C-4B02-9AA1-171F72CE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8"/>
                </a:solidFill>
              </a:defRPr>
            </a:pPr>
            <a:r>
              <a:rPr sz="1575" b="0">
                <a:solidFill>
                  <a:srgbClr val="101918"/>
                </a:solidFill>
              </a:rPr>
              <a:t>Model-directed Choose Agent Tool span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BB89E4C-4FA8-4DBE-B45A-D10A62DD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42"/>
                </a:solidFill>
              </a:defRPr>
            </a:pPr>
            <a:r>
              <a:rPr sz="157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A6A5595-EA8E-4CE2-AA10-70833EB3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8"/>
                </a:solidFill>
              </a:defRPr>
            </a:pPr>
            <a:r>
              <a:rPr sz="1575" b="0">
                <a:solidFill>
                  <a:srgbClr val="101918"/>
                </a:solidFill>
              </a:rPr>
              <a:t>Selected knowledge_search with reason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066D060-3CA3-4E5C-9698-D9DF4D8E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7A842"/>
                </a:solidFill>
              </a:defRPr>
            </a:pPr>
            <a:r>
              <a:rPr sz="1575" b="1">
                <a:solidFill>
                  <a:srgbClr val="D7A842"/>
                </a:solidFill>
              </a:rPr>
              <a:t>•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0FB0A2A-3539-4F53-A7A4-4848B999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529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918"/>
                </a:solidFill>
              </a:defRPr>
            </a:pPr>
            <a:r>
              <a:rPr sz="1575" b="0">
                <a:solidFill>
                  <a:srgbClr val="101918"/>
                </a:solidFill>
              </a:rPr>
              <a:t>Retrieval, reranking and cited response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4459B75-BD87-4EC0-9CD1-8E7CBB44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958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C36"/>
                </a:solidFill>
              </a:defRPr>
            </a:pPr>
            <a:r>
              <a:rPr sz="1275" b="1">
                <a:solidFill>
                  <a:srgbClr val="173C36"/>
                </a:solidFill>
              </a:rPr>
              <a:t>Run 01a0347a-2c0f-71c0-a259-92987d994f1f</a:t>
            </a:r>
          </a:p>
          <a:p xmlns:a="http://schemas.openxmlformats.org/drawingml/2006/main">
            <a:pPr algn="l">
              <a:defRPr sz="1275" b="1">
                <a:solidFill>
                  <a:srgbClr val="173C36"/>
                </a:solidFill>
              </a:defRPr>
            </a:pPr>
            <a:r>
              <a:rPr sz="1275" b="1">
                <a:solidFill>
                  <a:srgbClr val="173C36"/>
                </a:solidFill>
              </a:rPr>
              <a:t>Shared link recorded in docs/TRACE_EVIDENCE.md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B1F871F0-53B5-4C4B-96F6-48E6AE47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MET • LIVE AGENT TRACE VERIFIED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298F5AC7-31BD-4D6C-973F-3EDECA38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835620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F52E5F2F-540E-4F67-9F2D-CC7B1F4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BB89CD-824B-4594-A23D-0A90D268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The system supports screening—not professional due diligence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A11CB145-0D5B-4CB4-9F3F-81891373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DFF924-0CAD-4BDF-815B-1A5CF896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61"/>
                </a:solidFill>
              </a:defRPr>
            </a:pPr>
            <a:r>
              <a:rPr sz="1650" b="1">
                <a:solidFill>
                  <a:srgbClr val="2F6D61"/>
                </a:solidFill>
              </a:rPr>
              <a:t>Corpus</a:t>
            </a:r>
          </a:p>
        </p:txBody>
      </p:sp>
      <p:sp>
        <p:nvSpPr>
          <p:cNvPr id="5" name="line">
            <a:extLst xmlns:a="http://schemas.openxmlformats.org/drawingml/2006/main">
              <a:ext uri="{FF2B5EF4-FFF2-40B4-BE49-F238E27FC236}">
                <a16:creationId xmlns:a16="http://schemas.microsoft.com/office/drawing/2014/main" id="{1730E0E2-0DD7-4C26-AB48-7DCAE51C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2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8F81CC-3B84-4695-9D2D-4981C251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Coverage and metadata quality drive retrieval.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50AA20E-D7E9-4DFE-8372-23787B5C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09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61"/>
                </a:solidFill>
              </a:defRPr>
            </a:pPr>
            <a:r>
              <a:rPr sz="1650" b="1">
                <a:solidFill>
                  <a:srgbClr val="2F6D61"/>
                </a:solidFill>
              </a:rPr>
              <a:t>Vision</a:t>
            </a:r>
          </a:p>
        </p:txBody>
      </p:sp>
      <p:sp>
        <p:nvSpPr>
          <p:cNvPr id="8" name="line">
            <a:extLst xmlns:a="http://schemas.openxmlformats.org/drawingml/2006/main">
              <a:ext uri="{FF2B5EF4-FFF2-40B4-BE49-F238E27FC236}">
                <a16:creationId xmlns:a16="http://schemas.microsoft.com/office/drawing/2014/main" id="{71DC3E17-C42E-40D3-9584-9221CE66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288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2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DDCE98-A147-482F-A2DF-7B283815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00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Low-quality scans can omit or misread evidence.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E3AC47E-DE01-499D-A7F0-91DE7080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61"/>
                </a:solidFill>
              </a:defRPr>
            </a:pPr>
            <a:r>
              <a:rPr sz="1650" b="1">
                <a:solidFill>
                  <a:srgbClr val="2F6D61"/>
                </a:solidFill>
              </a:rPr>
              <a:t>Geospatial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5520BB48-CC16-4579-A763-66D43E5F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2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7043C0A-ED8D-41B2-A140-E14828DB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OSM coverage varies; distances are straight-line estimates.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A5E30D8-A6B2-49C3-A8DE-466AFB77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61"/>
                </a:solidFill>
              </a:defRPr>
            </a:pPr>
            <a:r>
              <a:rPr sz="1650" b="1">
                <a:solidFill>
                  <a:srgbClr val="2F6D61"/>
                </a:solidFill>
              </a:rPr>
              <a:t>Property certainty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CA3C17D-ABF4-4F50-9AB7-0F276797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2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4B37C91-A77D-4771-8168-504C94AB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Broad geocodes are not parcel coordinates.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AEF6353-556B-4AEF-98C8-C02548DF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19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61"/>
                </a:solidFill>
              </a:defRPr>
            </a:pPr>
            <a:r>
              <a:rPr sz="1650" b="1">
                <a:solidFill>
                  <a:srgbClr val="2F6D61"/>
                </a:solidFill>
              </a:rPr>
              <a:t>Compliance</a:t>
            </a:r>
          </a:p>
        </p:txBody>
      </p:sp>
      <p:sp>
        <p:nvSpPr>
          <p:cNvPr id="17" name="line">
            <a:extLst xmlns:a="http://schemas.openxmlformats.org/drawingml/2006/main">
              <a:ext uri="{FF2B5EF4-FFF2-40B4-BE49-F238E27FC236}">
                <a16:creationId xmlns:a16="http://schemas.microsoft.com/office/drawing/2014/main" id="{139FF489-348F-4313-970D-0B954E9D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38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2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E4D6AD9-2C3C-42B6-B2EC-8697A48F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00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Legal, tax, valuation and survey decisions need professionals.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0D5DBA4-2B7E-41B9-B465-DD3A1D9D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D61"/>
                </a:solidFill>
              </a:defRPr>
            </a:pPr>
            <a:r>
              <a:rPr sz="1650" b="1">
                <a:solidFill>
                  <a:srgbClr val="2F6D61"/>
                </a:solidFill>
              </a:rPr>
              <a:t>Operations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5E51375A-8E17-4BB7-B43C-0BA09790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A842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02CDE74-9D37-488D-93EF-AB6235B8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918"/>
                </a:solidFill>
              </a:defRPr>
            </a:pPr>
            <a:r>
              <a:rPr sz="1500" b="0">
                <a:solidFill>
                  <a:srgbClr val="101918"/>
                </a:solidFill>
              </a:rPr>
              <a:t>Production still needs auth, retention, encryption and rate limits.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343377A-BF88-4714-8243-3D6B028B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IMPLEMENTED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5318237-CA95-40B8-A79E-0CCD1BDF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350424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3D3B043B-0191-454D-B3F5-69D9F88B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4ECBB3-39C3-431E-9D65-83401E2C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Official cross-check: core requirements are evidenced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C0E9C2B7-2460-44A1-824E-0AA6A57B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855999-6248-4A2F-A6D3-267140D0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D61"/>
                </a:solidFill>
              </a:defRPr>
            </a:pPr>
            <a:r>
              <a:rPr sz="1050" b="1">
                <a:solidFill>
                  <a:srgbClr val="2F6D61"/>
                </a:solidFill>
              </a:rPr>
              <a:t>REQUIREMENT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22E7B5-EAA3-4378-AEA4-A752AFBC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38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D61"/>
                </a:solidFill>
              </a:defRPr>
            </a:pPr>
            <a:r>
              <a:rPr sz="1050" b="1">
                <a:solidFill>
                  <a:srgbClr val="2F6D61"/>
                </a:solidFill>
              </a:rPr>
              <a:t>STATUS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A69ECB0-916C-42A2-911A-60D4F6A6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383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D61"/>
                </a:solidFill>
              </a:defRPr>
            </a:pPr>
            <a:r>
              <a:rPr sz="1050" b="1">
                <a:solidFill>
                  <a:srgbClr val="2F6D61"/>
                </a:solidFill>
              </a:rPr>
              <a:t>EVIDENCE / GAP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39FC35F2-307D-47FD-8368-DF160919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918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D49C069-EBA5-4E3F-87DB-4812087E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918"/>
                </a:solidFill>
              </a:defRPr>
            </a:pPr>
            <a:r>
              <a:rPr sz="1425" b="1">
                <a:solidFill>
                  <a:srgbClr val="101918"/>
                </a:solidFill>
              </a:rPr>
              <a:t>RAG + citations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68C450-86AA-4DE1-93C6-CCC2AD28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478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MET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5528419-5483-4D4C-A870-F59B6172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478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pgvector retrieval; cited source metadata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4B046599-6295-4C62-AF86-CB9B971A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4BB13F4-5A36-484D-A306-DAF9EE75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918"/>
                </a:solidFill>
              </a:defRPr>
            </a:pPr>
            <a:r>
              <a:rPr sz="1425" b="1">
                <a:solidFill>
                  <a:srgbClr val="101918"/>
                </a:solidFill>
              </a:rPr>
              <a:t>Agents + memory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94C439-B998-4999-83ED-45FCBED5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MET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CCBE8C7-02F9-4124-9418-6FD2EE62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model chooses a tool; shared conversation history</a:t>
            </a:r>
          </a:p>
        </p:txBody>
      </p:sp>
      <p:sp>
        <p:nvSpPr>
          <p:cNvPr id="15" name="line">
            <a:extLst xmlns:a="http://schemas.openxmlformats.org/drawingml/2006/main">
              <a:ext uri="{FF2B5EF4-FFF2-40B4-BE49-F238E27FC236}">
                <a16:creationId xmlns:a16="http://schemas.microsoft.com/office/drawing/2014/main" id="{96018C8C-EC8D-43A6-AEE7-4AC511D2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38EB300-A0CD-47B5-BAE9-6C964DB1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918"/>
                </a:solidFill>
              </a:defRPr>
            </a:pPr>
            <a:r>
              <a:rPr sz="1425" b="1">
                <a:solidFill>
                  <a:srgbClr val="101918"/>
                </a:solidFill>
              </a:rPr>
              <a:t>Tracing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8F4C31B-DD0C-499A-9C89-C78CEE07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99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MET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7E28999-6FA1-4988-835E-7F595DDB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99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live routed-agent trace and shared link recorded</a:t>
            </a:r>
          </a:p>
        </p:txBody>
      </p:sp>
      <p:sp>
        <p:nvSpPr>
          <p:cNvPr id="19" name="line">
            <a:extLst xmlns:a="http://schemas.openxmlformats.org/drawingml/2006/main">
              <a:ext uri="{FF2B5EF4-FFF2-40B4-BE49-F238E27FC236}">
                <a16:creationId xmlns:a16="http://schemas.microsoft.com/office/drawing/2014/main" id="{B1B88396-52CE-413A-AE55-2F35D0ED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9C405D8-FEA1-4986-867B-AF8DF5AA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918"/>
                </a:solidFill>
              </a:defRPr>
            </a:pPr>
            <a:r>
              <a:rPr sz="1425" b="1">
                <a:solidFill>
                  <a:srgbClr val="101918"/>
                </a:solidFill>
              </a:rPr>
              <a:t>Multimodal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2FFEA14-5F4A-43BC-A766-2188C9AA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MET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ABC07EB-20FA-4F36-BC73-D5F6E38F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909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vision evidence changes the land assessment</a:t>
            </a:r>
          </a:p>
        </p:txBody>
      </p:sp>
      <p:sp>
        <p:nvSpPr>
          <p:cNvPr id="23" name="line">
            <a:extLst xmlns:a="http://schemas.openxmlformats.org/drawingml/2006/main">
              <a:ext uri="{FF2B5EF4-FFF2-40B4-BE49-F238E27FC236}">
                <a16:creationId xmlns:a16="http://schemas.microsoft.com/office/drawing/2014/main" id="{9466A6CA-8D3A-499F-B9DF-4C85803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380363F-72A3-44A7-AF84-D4DC30B0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918"/>
                </a:solidFill>
              </a:defRPr>
            </a:pPr>
            <a:r>
              <a:rPr sz="1425" b="1">
                <a:solidFill>
                  <a:srgbClr val="101918"/>
                </a:solidFill>
              </a:rPr>
              <a:t>Evaluation + baseline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5DFD374-1EF8-461C-9586-2E879D3B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719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MET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15068BF-4650-4D7A-A771-92CFE91B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719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30 retrieval tasks and 30 graded answers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C2BD2909-10FB-4487-B01C-A1F8BB88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D2137A9-80D8-496B-845C-58EC1EDC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918"/>
                </a:solidFill>
              </a:defRPr>
            </a:pPr>
            <a:r>
              <a:rPr sz="1425" b="1">
                <a:solidFill>
                  <a:srgbClr val="101918"/>
                </a:solidFill>
              </a:rPr>
              <a:t>Deployment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16D7774-5643-411B-9A7B-3902B14B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MET*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3235927-D966-470C-AE4F-F569FEB7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local web app implemented; demonstrate live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5BB44B99-D9BC-4F75-8B0C-34D1575C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4F041DB-9D22-407B-BBAF-046E0882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918"/>
                </a:solidFill>
              </a:defRPr>
            </a:pPr>
            <a:r>
              <a:rPr sz="1425" b="1">
                <a:solidFill>
                  <a:srgbClr val="101918"/>
                </a:solidFill>
              </a:rPr>
              <a:t>15–20 min presentation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16468B9-825E-4AE6-8213-B5AB32F5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340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MET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0B9D9EC-588D-45AC-98D9-BC78E9AC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340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problem, architecture, demo, metrics and next steps</a:t>
            </a:r>
          </a:p>
        </p:txBody>
      </p:sp>
      <p:sp>
        <p:nvSpPr>
          <p:cNvPr id="35" name="line">
            <a:extLst xmlns:a="http://schemas.openxmlformats.org/drawingml/2006/main">
              <a:ext uri="{FF2B5EF4-FFF2-40B4-BE49-F238E27FC236}">
                <a16:creationId xmlns:a16="http://schemas.microsoft.com/office/drawing/2014/main" id="{43C6F81E-FF24-4F4B-AF85-D86F7814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D3FA489-67F4-4595-8767-FFF1D908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RUBRIC CROSS-CHECK • 00_OVERVIEW PP. 2–4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1BC3458-30AA-43A1-B385-217D4585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991305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B03012A1-AC2B-4BAA-8F43-5FB8C519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D61"/>
                </a:solidFill>
              </a:defRPr>
            </a:pPr>
            <a:r>
              <a:rPr sz="975" b="1">
                <a:solidFill>
                  <a:srgbClr val="2F6D61"/>
                </a:solidFill>
              </a:rPr>
              <a:t>SRI LANKA BUSINESS INTELLIGENCE COPILOT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A0EE3C-203C-4DF2-B2F1-BD5EF7FC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918"/>
                </a:solidFill>
              </a:defRPr>
            </a:pPr>
            <a:r>
              <a:rPr sz="2850" b="1">
                <a:solidFill>
                  <a:srgbClr val="101918"/>
                </a:solidFill>
              </a:rPr>
              <a:t>Submission readiness depends on evidence—not only implemented code</a:t>
            </a:r>
          </a:p>
        </p:txBody>
      </p:sp>
      <p:sp>
        <p:nvSpPr>
          <p:cNvPr id="3" name="line">
            <a:extLst xmlns:a="http://schemas.openxmlformats.org/drawingml/2006/main">
              <a:ext uri="{FF2B5EF4-FFF2-40B4-BE49-F238E27FC236}">
                <a16:creationId xmlns:a16="http://schemas.microsoft.com/office/drawing/2014/main" id="{07E5DE23-41B8-4C08-AD4C-CA5EC967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0B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C23CE65-310C-4B45-9009-E3D8CFEA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42"/>
                </a:solidFill>
              </a:defRPr>
            </a:pPr>
            <a:r>
              <a:rPr sz="1650" b="1">
                <a:solidFill>
                  <a:srgbClr val="D7A842"/>
                </a:solidFill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5BD791-66E1-4A57-8F42-3FEDE1AA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14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8"/>
                </a:solidFill>
              </a:defRPr>
            </a:pPr>
            <a:r>
              <a:rPr sz="1500" b="1">
                <a:solidFill>
                  <a:srgbClr val="101918"/>
                </a:solidFill>
              </a:rPr>
              <a:t>Public Git repository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3AE8F3-92E9-4F02-A454-B05C0F7D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Remote configured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CCB7286-AA8D-4D3E-AF7A-2DF64BA5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Commit and push current evaluation, tracing, README and docs changes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E1D5CB-2C91-4BB8-830D-79D7A5DC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42"/>
                </a:solidFill>
              </a:defRPr>
            </a:pPr>
            <a:r>
              <a:rPr sz="1650" b="1">
                <a:solidFill>
                  <a:srgbClr val="D7A842"/>
                </a:solidFill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1E7B3B-357C-42E6-B184-1831D269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8"/>
                </a:solidFill>
              </a:defRPr>
            </a:pPr>
            <a:r>
              <a:rPr sz="1500" b="1">
                <a:solidFill>
                  <a:srgbClr val="101918"/>
                </a:solidFill>
              </a:rPr>
              <a:t>Professional README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839FA6C-CFE7-4662-8540-58604C2E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Draft complete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1F96EC4-71C9-4597-9911-D28017A7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288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Confirm technology list, architecture and run instructions after final commit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B60D9DA-A5C7-43A4-BA4F-B8D45432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42"/>
                </a:solidFill>
              </a:defRPr>
            </a:pPr>
            <a:r>
              <a:rPr sz="1650" b="1">
                <a:solidFill>
                  <a:srgbClr val="D7A842"/>
                </a:solidFill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3425BA5-E074-4D62-B16C-DC690E8F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8"/>
                </a:solidFill>
              </a:defRPr>
            </a:pPr>
            <a:r>
              <a:rPr sz="1500" b="1">
                <a:solidFill>
                  <a:srgbClr val="101918"/>
                </a:solidFill>
              </a:rPr>
              <a:t>Three-page project document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5F05F4-6ECB-4959-B2ED-FECBAB77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Ready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DE73B6-799F-4D36-A53B-A916ADBC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Editable DOCX created and visually verified at exactly three pages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45EAC4D-F270-4632-B169-33BF70EE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42"/>
                </a:solidFill>
              </a:defRPr>
            </a:pPr>
            <a:r>
              <a:rPr sz="1650" b="1">
                <a:solidFill>
                  <a:srgbClr val="D7A842"/>
                </a:solidFill>
              </a:rPr>
              <a:t>04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ADB0412-8B0D-4053-B687-54FF9E29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8"/>
                </a:solidFill>
              </a:defRPr>
            </a:pPr>
            <a:r>
              <a:rPr sz="1500" b="1">
                <a:solidFill>
                  <a:srgbClr val="101918"/>
                </a:solidFill>
              </a:rPr>
              <a:t>Trace proof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8271F6A-542C-49D9-A43F-C0D93411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Ready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DD23F1A-3752-488D-9D23-A157A89F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576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Shared LangSmith run and identifiers recorded in repository documentation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7CEAA44-34B9-4E19-95A7-EF5D7A5F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42"/>
                </a:solidFill>
              </a:defRPr>
            </a:pPr>
            <a:r>
              <a:rPr sz="1650" b="1">
                <a:solidFill>
                  <a:srgbClr val="D7A842"/>
                </a:solidFill>
              </a:rPr>
              <a:t>05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222C9D7-77BD-4184-A263-432C7FE5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8"/>
                </a:solidFill>
              </a:defRPr>
            </a:pPr>
            <a:r>
              <a:rPr sz="1500" b="1">
                <a:solidFill>
                  <a:srgbClr val="101918"/>
                </a:solidFill>
              </a:rPr>
              <a:t>Deployed application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61AD404-809D-418A-820B-391F009E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720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Local ready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3A24C5A-6695-432B-9F42-835A23A1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Rehearse startup and demonstrate the responsive UI live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302F597-2F31-4ED0-893D-0381BCEE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42"/>
                </a:solidFill>
              </a:defRPr>
            </a:pPr>
            <a:r>
              <a:rPr sz="1650" b="1">
                <a:solidFill>
                  <a:srgbClr val="D7A842"/>
                </a:solidFill>
              </a:rPr>
              <a:t>06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D131B98-6649-4BAA-8076-1969A6D1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863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918"/>
                </a:solidFill>
              </a:defRPr>
            </a:pPr>
            <a:r>
              <a:rPr sz="1500" b="1">
                <a:solidFill>
                  <a:srgbClr val="101918"/>
                </a:solidFill>
              </a:rPr>
              <a:t>Final presentation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3D4BB7C-C67A-420E-99A9-2F3C052D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D61"/>
                </a:solidFill>
              </a:defRPr>
            </a:pPr>
            <a:r>
              <a:rPr sz="1200" b="1">
                <a:solidFill>
                  <a:srgbClr val="2F6D61"/>
                </a:solidFill>
              </a:rPr>
              <a:t>Ready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AB89E73-C5D8-45FC-B386-51A8A730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8637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6B"/>
                </a:solidFill>
              </a:defRPr>
            </a:pPr>
            <a:r>
              <a:rPr sz="1350" b="0">
                <a:solidFill>
                  <a:srgbClr val="64706B"/>
                </a:solidFill>
              </a:rPr>
              <a:t>Use this deck for a 15–20 minute session with live demo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B9605BC-6288-4CCC-806B-F0BD6F5A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DELIVERABLE READINESS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F4D46C8-EDA2-4EFE-95AB-C75B8DCA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509999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BDBB1CA2-81F0-4C3E-BB2A-7A670287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870EB88-C247-46AB-9DDE-2C0FF6DF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842"/>
                </a:solidFill>
              </a:defRPr>
            </a:pPr>
            <a:r>
              <a:rPr sz="1050" b="1">
                <a:solidFill>
                  <a:srgbClr val="D7A842"/>
                </a:solidFill>
              </a:rPr>
              <a:t>THE PROJECT NOW DELIVERS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4A41F7E-3372-4FD9-991D-36AFC38A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19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 grounded, multimodal and observable decision-support foundation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FDEA47D2-D0E2-4016-9272-66764F2C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A842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DE7621-CCD5-43DF-B571-DE0C44C1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42"/>
                </a:solidFill>
              </a:defRPr>
            </a:pPr>
            <a:r>
              <a:rPr sz="1650" b="1">
                <a:solidFill>
                  <a:srgbClr val="D7A842"/>
                </a:solidFill>
              </a:rPr>
              <a:t>Implemented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A3C102-45A9-4068-960A-220F2B4B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Cited RAG, model-directed tools, memory, land vision, geospatial enrichment and observability.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7F37E24-C496-4B24-BB18-2FFB6927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19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42"/>
                </a:solidFill>
              </a:defRPr>
            </a:pPr>
            <a:r>
              <a:rPr sz="1650" b="1">
                <a:solidFill>
                  <a:srgbClr val="D7A842"/>
                </a:solidFill>
              </a:rPr>
              <a:t>Measured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F7052E-FA55-40EC-9AE7-7E6ED91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30-task retrieval baseline plus 30 graded answers: 4.53 groundedness, 4.67 relevance and citation quality.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359F7F0-78A8-41E6-A2D0-E0BC5D05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A842"/>
                </a:solidFill>
              </a:defRPr>
            </a:pPr>
            <a:r>
              <a:rPr sz="1650" b="1">
                <a:solidFill>
                  <a:srgbClr val="D7A842"/>
                </a:solidFill>
              </a:rPr>
              <a:t>Before submission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818DB0E-AE9D-4637-AB95-0AA8E6A9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95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Manually spot-check judge results, rehearse the live demo, validate consented land fixtures and publish the final repository.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1E01F9A-C9A7-4FA7-AAFE-C157F740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E5E0"/>
                </a:solidFill>
              </a:defRPr>
            </a:pPr>
            <a:r>
              <a:rPr sz="1800" b="1">
                <a:solidFill>
                  <a:srgbClr val="D9E5E0"/>
                </a:solidFill>
              </a:rPr>
              <a:t>Evidence first. Gaps explicit. Decisions still human.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E523BC7-42CD-4C22-90CB-43C85731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CONCLUSION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8C10DF4-D134-4BBF-A15B-9F9A0EDB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06B"/>
                </a:solidFill>
              </a:defRPr>
            </a:pPr>
            <a:r>
              <a:rPr sz="825" b="1">
                <a:solidFill>
                  <a:srgbClr val="64706B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56926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2026-08-24T18:41:43.0170000Z</dcterms:created>
  <dcterms:modified xsi:type="dcterms:W3CDTF">2026-08-24T18:41:43.0170000Z</dcterms:modified>
</coreProperties>
</file>