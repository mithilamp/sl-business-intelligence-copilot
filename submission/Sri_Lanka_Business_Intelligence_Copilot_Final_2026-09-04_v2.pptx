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26"/>
    <p:restoredTop sz="79905"/>
  </p:normalViewPr>
  <p:slideViewPr>
    <p:cSldViewPr snapToGrid="0">
      <p:cViewPr varScale="1">
        <p:scale>
          <a:sx n="117" d="100"/>
          <a:sy n="117" d="100"/>
        </p:scale>
        <p:origin x="33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Vector only</c:v>
          </c:tx>
          <c:spPr>
            <a:solidFill>
              <a:srgbClr val="D8A83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42B2B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Hit@3</c:v>
                </c:pt>
                <c:pt idx="1">
                  <c:v>MRR</c:v>
                </c:pt>
                <c:pt idx="2">
                  <c:v>Precision@3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70</c:v>
                </c:pt>
                <c:pt idx="1">
                  <c:v>61.1</c:v>
                </c:pt>
                <c:pt idx="2">
                  <c:v>55.6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20F-9745-86B8-961651BD06A1}"/>
            </c:ext>
          </c:extLst>
        </c:ser>
        <c:ser>
          <c:idx val="1"/>
          <c:order val="1"/>
          <c:tx>
            <c:v>Vector + reranker</c:v>
          </c:tx>
          <c:spPr>
            <a:solidFill>
              <a:srgbClr val="1F5B4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42B2B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Hit@3</c:v>
                </c:pt>
                <c:pt idx="1">
                  <c:v>MRR</c:v>
                </c:pt>
                <c:pt idx="2">
                  <c:v>Precision@3</c:v>
                </c:pt>
              </c:strCache>
            </c:strRef>
          </c:cat>
          <c:val>
            <c:numRef>
              <c:f>'Chart Data'!$D$2:$D$4</c:f>
              <c:numCache>
                <c:formatCode>0"%"</c:formatCode>
                <c:ptCount val="3"/>
                <c:pt idx="0">
                  <c:v>66.7</c:v>
                </c:pt>
                <c:pt idx="1">
                  <c:v>60</c:v>
                </c:pt>
                <c:pt idx="2">
                  <c:v>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20F-9745-86B8-961651BD06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0C5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4D0C5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20"/>
      </c:valAx>
      <c:spPr>
        <a:solidFill>
          <a:srgbClr val="F7F4EC"/>
        </a:solidFill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66736E"/>
              </a:solidFill>
              <a:latin typeface="Helvetica Neue"/>
              <a:ea typeface="Helvetica Neue"/>
              <a:cs typeface="Helvetica Neue"/>
            </a:defRPr>
          </a:pPr>
          <a:endParaRPr lang="en-DE"/>
        </a:p>
      </c:txPr>
    </c:legend>
    <c:plotVisOnly val="1"/>
    <c:dispBlanksAs val="zero"/>
    <c:showDLblsOverMax val="1"/>
  </c:chart>
  <c:spPr>
    <a:solidFill>
      <a:srgbClr val="F7F4EC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Good morning. My project is </a:t>
            </a:r>
            <a:r>
              <a:rPr lang="de-DE" dirty="0" err="1"/>
              <a:t>called</a:t>
            </a:r>
            <a:r>
              <a:rPr dirty="0"/>
              <a:t> Sri Lanka Business Intelligence Copilot. </a:t>
            </a:r>
            <a:endParaRPr lang="de-DE" dirty="0"/>
          </a:p>
          <a:p>
            <a:r>
              <a:rPr dirty="0"/>
              <a:t>It combines document</a:t>
            </a:r>
            <a:r>
              <a:rPr lang="de-DE" dirty="0"/>
              <a:t> </a:t>
            </a:r>
            <a:r>
              <a:rPr dirty="0"/>
              <a:t>grounded question</a:t>
            </a:r>
            <a:r>
              <a:rPr lang="de-DE" dirty="0"/>
              <a:t>-</a:t>
            </a:r>
            <a:r>
              <a:rPr dirty="0"/>
              <a:t>answering with a separate workflow that reads land plans, resolves location context, and prepares evidence-based business recommendations. </a:t>
            </a:r>
            <a:endParaRPr lang="de-DE" dirty="0"/>
          </a:p>
          <a:p>
            <a:r>
              <a:rPr dirty="0"/>
              <a:t>I will show the architecture, a live demonstration, the traces, and the measured evaluation results.</a:t>
            </a:r>
          </a:p>
          <a:p>
            <a:endParaRPr dirty="0"/>
          </a:p>
          <a:p>
            <a:r>
              <a:rPr lang="en-DE" dirty="0"/>
              <a:t>Transition: “Let me begin with the problem I wanted to solve.”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Business information about Sri Lanka is spread across government websites and long PDF reports. </a:t>
            </a:r>
          </a:p>
          <a:p>
            <a:r>
              <a:rPr lang="en-DE" dirty="0"/>
              <a:t>Land-related decisions are even more difficult because survey plans contain measurements, boundaries and location details that require interpretation.</a:t>
            </a:r>
          </a:p>
          <a:p>
            <a:r>
              <a:rPr lang="en-DE" dirty="0"/>
              <a:t> General AI systems may provide answers without clearly showing their evidence. </a:t>
            </a:r>
          </a:p>
          <a:p>
            <a:r>
              <a:rPr lang="en-DE" dirty="0"/>
              <a:t>My project brings this information together and makes the evidence visible.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The application has three main modes. Ask AI answers factual questions using official documents. </a:t>
            </a:r>
          </a:p>
          <a:p>
            <a:r>
              <a:rPr lang="en-DE" dirty="0"/>
              <a:t>Business Advisor converts evidence into opportunities, risks and recommendations.</a:t>
            </a:r>
          </a:p>
          <a:p>
            <a:r>
              <a:rPr lang="en-DE" dirty="0"/>
              <a:t> Land Intelligence analyses a survey plan or land image and adds geographic information. </a:t>
            </a:r>
          </a:p>
          <a:p>
            <a:r>
              <a:rPr lang="en-DE" dirty="0"/>
              <a:t>These workflows are available through one interface.</a:t>
            </a:r>
          </a:p>
          <a:p>
            <a:endParaRPr lang="en-DE" dirty="0"/>
          </a:p>
          <a:p>
            <a:r>
              <a:rPr lang="en-DE" dirty="0"/>
              <a:t>Transition: “Behind these three modes is the following architecture.”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“The user interacts with a Next.js frontend, which sends requests to the FastAPI backend. </a:t>
            </a:r>
          </a:p>
          <a:p>
            <a:r>
              <a:rPr lang="en-DE" dirty="0"/>
              <a:t>The Business Copilot Agent uses conversation memory and an LLM-based router to choose between Knowledge Search and Business Advisor. </a:t>
            </a:r>
          </a:p>
          <a:p>
            <a:r>
              <a:rPr lang="en-DE" dirty="0"/>
              <a:t>Knowledge Search connects to PostgreSQL and pgvector.</a:t>
            </a:r>
          </a:p>
          <a:p>
            <a:r>
              <a:rPr lang="en-DE" dirty="0"/>
              <a:t> Land Intelligence uses vision and OpenStreetMap services. LangSmith records each multi-step workflow.”</a:t>
            </a:r>
          </a:p>
          <a:p>
            <a:endParaRPr lang="en-DE" dirty="0"/>
          </a:p>
          <a:p>
            <a:r>
              <a:rPr lang="en-DE" strike="sngStrike" dirty="0"/>
              <a:t>Point at each component while speaking:</a:t>
            </a:r>
          </a:p>
          <a:p>
            <a:pPr lvl="0"/>
            <a:r>
              <a:rPr lang="en-DE" strike="sngStrike" dirty="0"/>
              <a:t>Next.js interface </a:t>
            </a:r>
          </a:p>
          <a:p>
            <a:pPr lvl="0"/>
            <a:r>
              <a:rPr lang="en-DE" strike="sngStrike" dirty="0"/>
              <a:t>FastAPI backend </a:t>
            </a:r>
          </a:p>
          <a:p>
            <a:pPr lvl="0"/>
            <a:r>
              <a:rPr lang="en-DE" strike="sngStrike" dirty="0"/>
              <a:t>Agent router and memory </a:t>
            </a:r>
          </a:p>
          <a:p>
            <a:pPr lvl="0"/>
            <a:r>
              <a:rPr lang="en-DE" strike="sngStrike" dirty="0"/>
              <a:t>Knowledge Search or Business Advisor </a:t>
            </a:r>
          </a:p>
          <a:p>
            <a:pPr lvl="0"/>
            <a:r>
              <a:rPr lang="en-DE" strike="sngStrike" dirty="0"/>
              <a:t>Database or Land Intelligence </a:t>
            </a:r>
          </a:p>
          <a:p>
            <a:pPr lvl="0"/>
            <a:r>
              <a:rPr lang="en-DE" strike="sngStrike" dirty="0"/>
              <a:t>LangSmith tracing</a:t>
            </a:r>
          </a:p>
          <a:p>
            <a:pPr lvl="0"/>
            <a:endParaRPr lang="en-DE" dirty="0"/>
          </a:p>
          <a:p>
            <a:r>
              <a:rPr lang="en-DE" dirty="0"/>
              <a:t>Transition: “I will first explain how the official document collection is prepared.”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Before users ask questions, the system processes official PDF documents. </a:t>
            </a:r>
          </a:p>
          <a:p>
            <a:r>
              <a:rPr lang="en-DE" dirty="0"/>
              <a:t>It extracts the text, divides it into smaller chunks and creates an embedding for every chunk. </a:t>
            </a:r>
          </a:p>
          <a:p>
            <a:r>
              <a:rPr lang="en-DE" dirty="0"/>
              <a:t>The chunks and embeddings are stored in PostgreSQL with pgvector. </a:t>
            </a:r>
          </a:p>
          <a:p>
            <a:r>
              <a:rPr lang="en-DE" dirty="0"/>
              <a:t>Metadata such as publisher, category, filename, date and original URL is also retained.”</a:t>
            </a:r>
          </a:p>
          <a:p>
            <a:endParaRPr lang="en-DE" dirty="0"/>
          </a:p>
          <a:p>
            <a:r>
              <a:rPr lang="en-DE" dirty="0"/>
              <a:t>Transition: “Once the documents are stored, the RAG pipeline can search them.”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“When a user asks a question, the system first retrieves twenty potentially relevant chunks using vector similarity. </a:t>
            </a:r>
          </a:p>
          <a:p>
            <a:r>
              <a:rPr lang="en-DE" dirty="0"/>
              <a:t>A cross-encoder reranks those candidates more carefully. </a:t>
            </a:r>
          </a:p>
          <a:p>
            <a:r>
              <a:rPr lang="en-DE" dirty="0"/>
              <a:t>The best three chunks become the context for the language model.</a:t>
            </a:r>
          </a:p>
          <a:p>
            <a:r>
              <a:rPr lang="en-DE" dirty="0"/>
              <a:t>The final response includes the answer and the supporting source information.”</a:t>
            </a:r>
          </a:p>
          <a:p>
            <a:endParaRPr lang="en-DE" dirty="0"/>
          </a:p>
          <a:p>
            <a:r>
              <a:rPr lang="en-DE" dirty="0"/>
              <a:t>If asked why RAG is needed:</a:t>
            </a:r>
          </a:p>
          <a:p>
            <a:endParaRPr lang="en-DE" dirty="0"/>
          </a:p>
          <a:p>
            <a:r>
              <a:rPr lang="en-DE" dirty="0"/>
              <a:t>“RAG grounds the answer in the project’s document collection instead of relying only on the model’s general knowledge.”</a:t>
            </a:r>
          </a:p>
          <a:p>
            <a:endParaRPr lang="en-DE" dirty="0"/>
          </a:p>
          <a:p>
            <a:r>
              <a:rPr lang="en-DE" dirty="0"/>
              <a:t>Transition: “The system also needs to decide when RAG is the correct tool.”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The agent receives the current question, conversation history and an optional land report. </a:t>
            </a:r>
          </a:p>
          <a:p>
            <a:r>
              <a:rPr lang="en-DE" dirty="0"/>
              <a:t>An LLM chooses between Knowledge Search and Business Advisor. </a:t>
            </a:r>
          </a:p>
          <a:p>
            <a:r>
              <a:rPr lang="en-DE" dirty="0"/>
              <a:t>Factual questions normally go to Knowledge Search, </a:t>
            </a:r>
          </a:p>
          <a:p>
            <a:r>
              <a:rPr lang="en-DE" dirty="0"/>
              <a:t>while recommendations and feasibility questions go to Business Advisor. </a:t>
            </a:r>
          </a:p>
          <a:p>
            <a:r>
              <a:rPr lang="en-DE" dirty="0"/>
              <a:t>The model also records a reason for its decision.”</a:t>
            </a:r>
          </a:p>
          <a:p>
            <a:r>
              <a:rPr lang="en-DE" dirty="0"/>
              <a:t>“The system stores conversation messages using a conversation ID. </a:t>
            </a:r>
          </a:p>
          <a:p>
            <a:r>
              <a:rPr lang="en-DE" dirty="0"/>
              <a:t>This allows it to understand follow-up questions such as ‘Which of those sectors have export potential?’”</a:t>
            </a:r>
          </a:p>
          <a:p>
            <a:endParaRPr lang="en-DE" dirty="0"/>
          </a:p>
          <a:p>
            <a:r>
              <a:rPr lang="en-DE" dirty="0"/>
              <a:t>Important line:</a:t>
            </a:r>
          </a:p>
          <a:p>
            <a:r>
              <a:rPr lang="en-DE" dirty="0"/>
              <a:t>“This qualifies as agentic because the model selects the tool at runtime. The path is not permanently fixed.”</a:t>
            </a:r>
          </a:p>
          <a:p>
            <a:endParaRPr lang="en-DE" dirty="0"/>
          </a:p>
          <a:p>
            <a:r>
              <a:rPr lang="en-DE" dirty="0"/>
              <a:t>Transition: “The second major workflow handles land documents.”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Land Intelligence accepts a PDF or image. </a:t>
            </a:r>
          </a:p>
          <a:p>
            <a:r>
              <a:rPr lang="en-DE" dirty="0"/>
              <a:t>The parser prepares the document for the vision model. </a:t>
            </a:r>
          </a:p>
          <a:p>
            <a:r>
              <a:rPr lang="en-DE" dirty="0"/>
              <a:t>The vision model extracts boundaries, area, road access, survey details and location clues.</a:t>
            </a:r>
          </a:p>
          <a:p>
            <a:r>
              <a:rPr lang="en-DE" dirty="0"/>
              <a:t>The location is normalized and geocoded, and OpenStreetMap provides nearby roads and facilities.</a:t>
            </a:r>
          </a:p>
          <a:p>
            <a:endParaRPr lang="en-DE" dirty="0"/>
          </a:p>
          <a:p>
            <a:r>
              <a:rPr lang="en-DE" dirty="0"/>
              <a:t>The system then generates opportunities, risks and verification requirements.”</a:t>
            </a:r>
          </a:p>
          <a:p>
            <a:endParaRPr lang="en-DE" dirty="0"/>
          </a:p>
          <a:p>
            <a:r>
              <a:rPr lang="en-DE" dirty="0"/>
              <a:t>Transition: “Because this analysis combines several information types, evidence separation is important.”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“The report separates information into three categories. Document evidence comes directly from the uploaded plan. </a:t>
            </a:r>
          </a:p>
          <a:p>
            <a:endParaRPr lang="en-DE" dirty="0"/>
          </a:p>
          <a:p>
            <a:r>
              <a:rPr lang="en-DE" dirty="0"/>
              <a:t>External evidence comes from OpenStreetMap. </a:t>
            </a:r>
          </a:p>
          <a:p>
            <a:endParaRPr lang="en-DE" dirty="0"/>
          </a:p>
          <a:p>
            <a:r>
              <a:rPr lang="en-DE" dirty="0"/>
              <a:t>Model interpretation contains business opportunities, risks and recommendations. </a:t>
            </a:r>
          </a:p>
          <a:p>
            <a:r>
              <a:rPr lang="en-DE" dirty="0"/>
              <a:t>This separation helps prevent an AI interpretation from being presented as a surveyed fact.”</a:t>
            </a:r>
          </a:p>
          <a:p>
            <a:endParaRPr lang="en-DE" dirty="0"/>
          </a:p>
          <a:p>
            <a:r>
              <a:rPr lang="en-DE" dirty="0"/>
              <a:t>Important line:</a:t>
            </a:r>
          </a:p>
          <a:p>
            <a:r>
              <a:rPr lang="en-DE" dirty="0"/>
              <a:t>“The system supports early-stage decisions, but it does not replace legal, surveying, valuation or planning professionals.”</a:t>
            </a:r>
          </a:p>
          <a:p>
            <a:endParaRPr lang="en-DE" dirty="0"/>
          </a:p>
          <a:p>
            <a:r>
              <a:rPr lang="en-DE" dirty="0"/>
              <a:t>Transition: “All this functionality is available through the final user interface.”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“The interface combines Ask AI, Business Advisor and Land Intelligence. </a:t>
            </a:r>
          </a:p>
          <a:p>
            <a:r>
              <a:rPr lang="en-DE" dirty="0"/>
              <a:t>Conversation history appears in the sidebar, and users can restore previous conversations.</a:t>
            </a:r>
          </a:p>
          <a:p>
            <a:r>
              <a:rPr lang="en-DE" dirty="0"/>
              <a:t> The prompt area remains fixed while messages scroll</a:t>
            </a:r>
            <a:r>
              <a:rPr lang="en-DE"/>
              <a:t>. </a:t>
            </a:r>
          </a:p>
          <a:p>
            <a:r>
              <a:rPr lang="en-DE"/>
              <a:t>Source </a:t>
            </a:r>
            <a:r>
              <a:rPr lang="en-DE" dirty="0"/>
              <a:t>information appears at the end of the relevant answer, where users can inspect the supporting documents.”</a:t>
            </a:r>
          </a:p>
          <a:p>
            <a:endParaRPr lang="en-DE" dirty="0"/>
          </a:p>
          <a:p>
            <a:r>
              <a:rPr lang="en-DE" dirty="0"/>
              <a:t>“The land report also includes an ‘Ask Business Advisor about this land’ action. This sends the structured land report into the advisor workflow.”</a:t>
            </a:r>
          </a:p>
          <a:p>
            <a:endParaRPr lang="en-DE" dirty="0"/>
          </a:p>
          <a:p>
            <a:endParaRPr lang="en-DE" dirty="0"/>
          </a:p>
          <a:p>
            <a:r>
              <a:rPr lang="en-DE" dirty="0"/>
              <a:t>Transition: “To understand what happens behind the interface, I used LangSmith.”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“This screenshot shows a real Business Copilot Agent trace. The root represents the complete request. </a:t>
            </a:r>
          </a:p>
          <a:p>
            <a:r>
              <a:rPr lang="en-DE" dirty="0"/>
              <a:t>First, the question is contextualized using conversation history. </a:t>
            </a:r>
          </a:p>
          <a:p>
            <a:r>
              <a:rPr lang="en-DE" dirty="0"/>
              <a:t>Next, Choose Agent Tool selects Knowledge Search and records the reason. The RAG pipeline then retrieves documents, reranks them and generates the answer.”</a:t>
            </a:r>
          </a:p>
          <a:p>
            <a:endParaRPr lang="en-DE" dirty="0"/>
          </a:p>
          <a:p>
            <a:r>
              <a:rPr lang="en-DE" dirty="0"/>
              <a:t>“The root output contains the answer, selected tool, routing reason, conversation ID and sources. This allows me to explain exactly how the agent reached the result.”</a:t>
            </a:r>
          </a:p>
          <a:p>
            <a:endParaRPr lang="en-DE" dirty="0"/>
          </a:p>
          <a:p>
            <a:endParaRPr lang="en-DE" dirty="0">
              <a:solidFill>
                <a:srgbClr val="FF0000"/>
              </a:solidFill>
            </a:endParaRPr>
          </a:p>
          <a:p>
            <a:r>
              <a:rPr lang="en-DE" dirty="0">
                <a:solidFill>
                  <a:srgbClr val="FFC000"/>
                </a:solidFill>
                <a:highlight>
                  <a:srgbClr val="FFFF00"/>
                </a:highlight>
              </a:rPr>
              <a:t>If asked why a trace step is sometimes missing:</a:t>
            </a:r>
          </a:p>
          <a:p>
            <a:endParaRPr lang="en-DE" dirty="0"/>
          </a:p>
          <a:p>
            <a:r>
              <a:rPr lang="en-DE" dirty="0"/>
              <a:t>“The Question Contextualizer may not appear for a first question because there is no previous conversation to contextualize.”</a:t>
            </a:r>
          </a:p>
          <a:p>
            <a:r>
              <a:rPr lang="en-DE" dirty="0"/>
              <a:t>Transition: “I also measured the retrieval quality instead of relying only on demonstrations.”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“I created a benchmark of thirty questions across investment, agriculture, exports, economy, statistics, tourism and tax topics. </a:t>
            </a:r>
          </a:p>
          <a:p>
            <a:r>
              <a:rPr lang="en-DE" dirty="0"/>
              <a:t>Vector-only retrieval achieved 70 percent Hit at three. The vector-plus-reranker pipeline achieved 66.7 percent.”</a:t>
            </a:r>
          </a:p>
          <a:p>
            <a:r>
              <a:rPr lang="en-DE" dirty="0"/>
              <a:t>“The reranker did not improve the result on this benchmark. </a:t>
            </a:r>
          </a:p>
          <a:p>
            <a:r>
              <a:rPr lang="en-DE" dirty="0"/>
              <a:t>This identifies a real improvement area rather than something to hide. Investment achieved 100 percent coverage, while statistics and tax showed the largest gaps.”</a:t>
            </a:r>
          </a:p>
          <a:p>
            <a:endParaRPr lang="en-DE" dirty="0"/>
          </a:p>
          <a:p>
            <a:r>
              <a:rPr lang="en-DE" dirty="0"/>
              <a:t>If asked what Hit@3 means:</a:t>
            </a:r>
          </a:p>
          <a:p>
            <a:endParaRPr lang="en-DE" dirty="0"/>
          </a:p>
          <a:p>
            <a:r>
              <a:rPr lang="en-DE" dirty="0"/>
              <a:t>“Hit at three checks whether at least one expected source appears in the first three returned documents.”</a:t>
            </a:r>
          </a:p>
          <a:p>
            <a:endParaRPr lang="en-DE" dirty="0"/>
          </a:p>
          <a:p>
            <a:r>
              <a:rPr lang="en-DE" dirty="0"/>
              <a:t>If asked what MRR means:</a:t>
            </a:r>
          </a:p>
          <a:p>
            <a:r>
              <a:rPr lang="en-DE" dirty="0"/>
              <a:t>“MRR rewards the system for placing the first relevant source higher in the results.”</a:t>
            </a:r>
          </a:p>
          <a:p>
            <a:endParaRPr lang="en-DE" dirty="0"/>
          </a:p>
          <a:p>
            <a:r>
              <a:rPr lang="en-DE" dirty="0"/>
              <a:t>If asked what Precision@3 means:</a:t>
            </a:r>
          </a:p>
          <a:p>
            <a:r>
              <a:rPr lang="en-DE" dirty="0"/>
              <a:t>“Precision at three measures how many of the first three results came from an expected authority.”</a:t>
            </a:r>
          </a:p>
          <a:p>
            <a:endParaRPr lang="en-DE" dirty="0"/>
          </a:p>
          <a:p>
            <a:r>
              <a:rPr lang="en-DE" dirty="0"/>
              <a:t>Transition: “Based on the implementation and evaluation, this is the current requirement coverage.”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“The project covers the main technical requirements: RAG, dynamic agent routing, tracing, multimodal analysis, evaluation and a working web interface. </a:t>
            </a:r>
          </a:p>
          <a:p>
            <a:r>
              <a:rPr lang="en-DE" dirty="0"/>
              <a:t>The presentation and demonstration materials are also ready.”</a:t>
            </a:r>
          </a:p>
          <a:p>
            <a:r>
              <a:rPr lang="en-DE" dirty="0"/>
              <a:t>“The remaining submission risk is the public deployment URL. Until deployment is complete, I will describe it accurately as a working local web application.”</a:t>
            </a:r>
          </a:p>
          <a:p>
            <a:endParaRPr lang="en-DE" dirty="0"/>
          </a:p>
          <a:p>
            <a:r>
              <a:rPr lang="en-DE" dirty="0"/>
              <a:t>Transition: “I will now show how these components work together in the live demonstration.”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“My demonstration has five parts. </a:t>
            </a:r>
          </a:p>
          <a:p>
            <a:r>
              <a:rPr lang="en-DE" dirty="0"/>
              <a:t>First, I will ask a factual investment question. Then I will ask a follow-up question to demonstrate memory. I will inspect the sources, analyse a land plan and finally send the report to Business Advisor.”</a:t>
            </a:r>
          </a:p>
          <a:p>
            <a:endParaRPr lang="en-DE" dirty="0"/>
          </a:p>
          <a:p>
            <a:r>
              <a:rPr lang="en-DE" dirty="0"/>
              <a:t>Use these questions:</a:t>
            </a:r>
          </a:p>
          <a:p>
            <a:pPr lvl="0"/>
            <a:r>
              <a:rPr lang="en-DE" dirty="0"/>
              <a:t>“Which sectors are promoted for foreign investment in Sri Lanka?”</a:t>
            </a:r>
          </a:p>
          <a:p>
            <a:pPr lvl="0"/>
            <a:r>
              <a:rPr lang="en-DE" dirty="0"/>
              <a:t>“Which of those sectors have the strongest export potential?”</a:t>
            </a:r>
          </a:p>
          <a:p>
            <a:pPr lvl="0"/>
            <a:r>
              <a:rPr lang="en-DE" dirty="0"/>
              <a:t>“Based on this land report, which business opportunities appear most suitable, and what should be verified first?”</a:t>
            </a:r>
          </a:p>
          <a:p>
            <a:pPr lvl="0"/>
            <a:endParaRPr lang="en-DE" dirty="0"/>
          </a:p>
          <a:p>
            <a:endParaRPr lang="en-DE" dirty="0"/>
          </a:p>
          <a:p>
            <a:r>
              <a:rPr lang="en-DE" dirty="0"/>
              <a:t>Transition after the demo: “The demonstration shows the working system, but the project also has measurable limitations.”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“The evaluation shows that the reranker requires domain-specific tuning. Statistics and tax also need stronger document coverage. Land analysis depends on image clarity, and OpenStreetMap coverage varies by location. Public deployment remains unfinished.”</a:t>
            </a:r>
          </a:p>
          <a:p>
            <a:r>
              <a:rPr lang="en-DE" dirty="0"/>
              <a:t>“The next iteration would expand the document collection, tune or replace the reranker, add human-reviewed answer-quality scoring and complete production deployment.”</a:t>
            </a:r>
          </a:p>
          <a:p>
            <a:endParaRPr lang="en-DE" dirty="0"/>
          </a:p>
          <a:p>
            <a:r>
              <a:rPr lang="en-DE" dirty="0"/>
              <a:t>Important line:</a:t>
            </a:r>
          </a:p>
          <a:p>
            <a:endParaRPr lang="en-DE" dirty="0"/>
          </a:p>
          <a:p>
            <a:r>
              <a:rPr lang="en-DE" dirty="0"/>
              <a:t>“These limitations are clearly reported so users understand what the system can and cannot verify.”</a:t>
            </a:r>
          </a:p>
          <a:p>
            <a:r>
              <a:rPr lang="en-DE" dirty="0"/>
              <a:t>Transition: “I will finish with the project’s main contribution.”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“The Sri Lanka Business Intelligence Copilot brings official-document research, agent routing and multimodal land analysis into one traceable application. It provides answers and recommendations while keeping the supporting evidence visible.”</a:t>
            </a:r>
          </a:p>
          <a:p>
            <a:endParaRPr lang="en-DE" dirty="0"/>
          </a:p>
          <a:p>
            <a:r>
              <a:rPr lang="en-DE" dirty="0"/>
              <a:t>“The project demonstrates RAG, dynamic tool selection, conversation memory, multimodal processing, evaluation and LangSmith observability. Thank you.</a:t>
            </a:r>
          </a:p>
          <a:p>
            <a:r>
              <a:rPr lang="en-DE" dirty="0"/>
              <a:t> I am happy to answer questions or demonstrate any part of the system again.”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ld-bar">
            <a:extLst>
              <a:ext uri="{FF2B5EF4-FFF2-40B4-BE49-F238E27FC236}">
                <a16:creationId xmlns:a16="http://schemas.microsoft.com/office/drawing/2014/main" id="{F49A28F1-5AE0-4857-A598-5267615BAD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8A83E"/>
          </a:solidFill>
          <a:ln w="0">
            <a:noFill/>
            <a:prstDash val="solid"/>
          </a:ln>
        </p:spPr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12D48F33-510B-4534-A311-089017025A63}"/>
              </a:ext>
            </a:extLst>
          </p:cNvPr>
          <p:cNvSpPr>
            <a:spLocks noGrp="1"/>
          </p:cNvSpPr>
          <p:nvPr/>
        </p:nvSpPr>
        <p:spPr>
          <a:xfrm>
            <a:off x="781050" y="685800"/>
            <a:ext cx="4953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AI ENGINEERING FINAL PROJECT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7434DA64-2136-470F-8786-F25D189118A2}"/>
              </a:ext>
            </a:extLst>
          </p:cNvPr>
          <p:cNvSpPr>
            <a:spLocks noGrp="1"/>
          </p:cNvSpPr>
          <p:nvPr/>
        </p:nvSpPr>
        <p:spPr>
          <a:xfrm>
            <a:off x="781050" y="1295400"/>
            <a:ext cx="7429500" cy="2238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Sri Lanka</a:t>
            </a:r>
          </a:p>
          <a:p>
            <a:pPr algn="l"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 Intelligence</a:t>
            </a:r>
          </a:p>
          <a:p>
            <a:pPr algn="l"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Copilot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ED14FD12-6FAD-443F-AD8E-2F3A1F65585A}"/>
              </a:ext>
            </a:extLst>
          </p:cNvPr>
          <p:cNvSpPr>
            <a:spLocks noGrp="1"/>
          </p:cNvSpPr>
          <p:nvPr/>
        </p:nvSpPr>
        <p:spPr>
          <a:xfrm>
            <a:off x="800100" y="3857625"/>
            <a:ext cx="7810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CAD8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CAD8D3"/>
                </a:solidFill>
                <a:latin typeface="Helvetica Neue"/>
                <a:ea typeface="Helvetica Neue"/>
                <a:cs typeface="Helvetica Neue"/>
              </a:rPr>
              <a:t>Grounded business research and multimodal land intelligence in one traceable application</a:t>
            </a:r>
          </a:p>
        </p:txBody>
      </p:sp>
      <p:sp>
        <p:nvSpPr>
          <p:cNvPr id="5" name="cover-line">
            <a:extLst>
              <a:ext uri="{FF2B5EF4-FFF2-40B4-BE49-F238E27FC236}">
                <a16:creationId xmlns:a16="http://schemas.microsoft.com/office/drawing/2014/main" id="{51ED84BB-583B-4540-953C-9941E27905B8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895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RAG   Agent routing   Vision   OpenStreetMap   LangSmith</a:t>
            </a:r>
          </a:p>
        </p:txBody>
      </p:sp>
      <p:sp>
        <p:nvSpPr>
          <p:cNvPr id="6" name="cover-date">
            <a:extLst>
              <a:ext uri="{FF2B5EF4-FFF2-40B4-BE49-F238E27FC236}">
                <a16:creationId xmlns:a16="http://schemas.microsoft.com/office/drawing/2014/main" id="{D2B1083F-7FC7-41AD-87AF-613EA498C65A}"/>
              </a:ext>
            </a:extLst>
          </p:cNvPr>
          <p:cNvSpPr>
            <a:spLocks noGrp="1"/>
          </p:cNvSpPr>
          <p:nvPr/>
        </p:nvSpPr>
        <p:spPr>
          <a:xfrm>
            <a:off x="800100" y="59626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8FA39C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de-DE" sz="1050" dirty="0">
                <a:solidFill>
                  <a:srgbClr val="8FA39C"/>
                </a:solidFill>
                <a:latin typeface="Helvetica Neue"/>
                <a:ea typeface="Helvetica Neue"/>
                <a:cs typeface="Helvetica Neue"/>
              </a:rPr>
              <a:t>Don Mithila Meshan Palliya Guruge</a:t>
            </a:r>
            <a:r>
              <a:rPr sz="1050" b="0" i="0" dirty="0">
                <a:solidFill>
                  <a:srgbClr val="8FA39C"/>
                </a:solidFill>
                <a:latin typeface="Helvetica Neue"/>
                <a:ea typeface="Helvetica Neue"/>
                <a:cs typeface="Helvetica Neue"/>
              </a:rPr>
              <a:t>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4323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1C8F3498-4CD8-4419-A83F-AFECCD41F10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The decision problem</a:t>
            </a:r>
          </a:p>
        </p:txBody>
      </p:sp>
      <p:cxnSp>
        <p:nvCxnSpPr>
          <p:cNvPr id="18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3" name="statement">
            <a:extLst>
              <a:ext uri="{FF2B5EF4-FFF2-40B4-BE49-F238E27FC236}">
                <a16:creationId xmlns:a16="http://schemas.microsoft.com/office/drawing/2014/main" id="{A6CA1CC7-C1F1-46B3-A987-F4618D27EAA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1105"/>
          </a:bodyPr>
          <a:lstStyle/>
          <a:p>
            <a:pPr algn="l">
              <a:defRPr sz="232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Business evidence exists, but decision makers must assemble it manually.</a:t>
            </a:r>
          </a:p>
        </p:txBody>
      </p:sp>
      <p:sp>
        <p:nvSpPr>
          <p:cNvPr id="4" name="problem-num-0">
            <a:extLst>
              <a:ext uri="{FF2B5EF4-FFF2-40B4-BE49-F238E27FC236}">
                <a16:creationId xmlns:a16="http://schemas.microsoft.com/office/drawing/2014/main" id="{8513FA91-2175-4688-874C-6619707EA5A2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problem-head-0">
            <a:extLst>
              <a:ext uri="{FF2B5EF4-FFF2-40B4-BE49-F238E27FC236}">
                <a16:creationId xmlns:a16="http://schemas.microsoft.com/office/drawing/2014/main" id="{5B1633C3-D325-4B1E-8CCD-2B765801CD21}"/>
              </a:ext>
            </a:extLst>
          </p:cNvPr>
          <p:cNvSpPr>
            <a:spLocks noGrp="1"/>
          </p:cNvSpPr>
          <p:nvPr/>
        </p:nvSpPr>
        <p:spPr>
          <a:xfrm>
            <a:off x="1619250" y="27241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Official information is fragmented</a:t>
            </a:r>
          </a:p>
        </p:txBody>
      </p:sp>
      <p:sp>
        <p:nvSpPr>
          <p:cNvPr id="6" name="problem-body-0">
            <a:extLst>
              <a:ext uri="{FF2B5EF4-FFF2-40B4-BE49-F238E27FC236}">
                <a16:creationId xmlns:a16="http://schemas.microsoft.com/office/drawing/2014/main" id="{E53683FD-985F-48DA-8A12-DB96C6692F24}"/>
              </a:ext>
            </a:extLst>
          </p:cNvPr>
          <p:cNvSpPr>
            <a:spLocks noGrp="1"/>
          </p:cNvSpPr>
          <p:nvPr/>
        </p:nvSpPr>
        <p:spPr>
          <a:xfrm>
            <a:off x="5572125" y="2724150"/>
            <a:ext cx="5619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Investment, export, economic and sector evidence sits across separate institutions and PDF reports.</a:t>
            </a:r>
          </a:p>
        </p:txBody>
      </p:sp>
      <p:cxnSp>
        <p:nvCxnSpPr>
          <p:cNvPr id="23" name="problem-rule-0"/>
          <p:cNvCxnSpPr/>
          <p:nvPr/>
        </p:nvCxnSpPr>
        <p:spPr>
          <a:xfrm>
            <a:off x="1619250" y="3448050"/>
            <a:ext cx="9572625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8" name="problem-num-1">
            <a:extLst>
              <a:ext uri="{FF2B5EF4-FFF2-40B4-BE49-F238E27FC236}">
                <a16:creationId xmlns:a16="http://schemas.microsoft.com/office/drawing/2014/main" id="{E20D7AE2-75AD-4C9E-AEF1-F8F44FF05DBF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problem-head-1">
            <a:extLst>
              <a:ext uri="{FF2B5EF4-FFF2-40B4-BE49-F238E27FC236}">
                <a16:creationId xmlns:a16="http://schemas.microsoft.com/office/drawing/2014/main" id="{0700DE81-5B78-48ED-B553-18E5579E7C49}"/>
              </a:ext>
            </a:extLst>
          </p:cNvPr>
          <p:cNvSpPr>
            <a:spLocks noGrp="1"/>
          </p:cNvSpPr>
          <p:nvPr/>
        </p:nvSpPr>
        <p:spPr>
          <a:xfrm>
            <a:off x="1619250" y="373380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879"/>
          </a:bodyPr>
          <a:lstStyle/>
          <a:p>
            <a:pPr algn="l">
              <a:defRPr sz="16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Land</a:t>
            </a:r>
            <a:r>
              <a:rPr sz="1000" b="1" i="0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1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documents</a:t>
            </a:r>
            <a:r>
              <a:rPr sz="1000" b="1" i="0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1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need</a:t>
            </a:r>
            <a:r>
              <a:rPr sz="1000" b="1" i="0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1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specialist</a:t>
            </a:r>
            <a:r>
              <a:rPr sz="1000" b="1" i="0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00" b="1" dirty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0" name="problem-body-1">
            <a:extLst>
              <a:ext uri="{FF2B5EF4-FFF2-40B4-BE49-F238E27FC236}">
                <a16:creationId xmlns:a16="http://schemas.microsoft.com/office/drawing/2014/main" id="{79A419FA-CCDC-4715-9EEA-467A55AE8EEF}"/>
              </a:ext>
            </a:extLst>
          </p:cNvPr>
          <p:cNvSpPr>
            <a:spLocks noGrp="1"/>
          </p:cNvSpPr>
          <p:nvPr/>
        </p:nvSpPr>
        <p:spPr>
          <a:xfrm>
            <a:off x="5572125" y="3733800"/>
            <a:ext cx="5619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Survey plans contain boundaries, measurements, access roads and location clues that are difficult to use directly.</a:t>
            </a:r>
          </a:p>
        </p:txBody>
      </p:sp>
      <p:cxnSp>
        <p:nvCxnSpPr>
          <p:cNvPr id="27" name="problem-rule-1"/>
          <p:cNvCxnSpPr/>
          <p:nvPr/>
        </p:nvCxnSpPr>
        <p:spPr>
          <a:xfrm>
            <a:off x="1619250" y="4457700"/>
            <a:ext cx="9572625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12" name="problem-num-2">
            <a:extLst>
              <a:ext uri="{FF2B5EF4-FFF2-40B4-BE49-F238E27FC236}">
                <a16:creationId xmlns:a16="http://schemas.microsoft.com/office/drawing/2014/main" id="{932A92D1-FA09-4126-BE3D-630DC030A152}"/>
              </a:ext>
            </a:extLst>
          </p:cNvPr>
          <p:cNvSpPr>
            <a:spLocks noGrp="1"/>
          </p:cNvSpPr>
          <p:nvPr/>
        </p:nvSpPr>
        <p:spPr>
          <a:xfrm>
            <a:off x="666750" y="4743450"/>
            <a:ext cx="685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problem-head-2">
            <a:extLst>
              <a:ext uri="{FF2B5EF4-FFF2-40B4-BE49-F238E27FC236}">
                <a16:creationId xmlns:a16="http://schemas.microsoft.com/office/drawing/2014/main" id="{B79E8CC1-33AA-43CD-935E-E604F518C9D0}"/>
              </a:ext>
            </a:extLst>
          </p:cNvPr>
          <p:cNvSpPr>
            <a:spLocks noGrp="1"/>
          </p:cNvSpPr>
          <p:nvPr/>
        </p:nvSpPr>
        <p:spPr>
          <a:xfrm>
            <a:off x="1619250" y="474345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Generic AI can hide its evidence</a:t>
            </a:r>
          </a:p>
        </p:txBody>
      </p:sp>
      <p:sp>
        <p:nvSpPr>
          <p:cNvPr id="14" name="problem-body-2">
            <a:extLst>
              <a:ext uri="{FF2B5EF4-FFF2-40B4-BE49-F238E27FC236}">
                <a16:creationId xmlns:a16="http://schemas.microsoft.com/office/drawing/2014/main" id="{1EA6609E-380B-4697-84A2-3449D66EA8EA}"/>
              </a:ext>
            </a:extLst>
          </p:cNvPr>
          <p:cNvSpPr>
            <a:spLocks noGrp="1"/>
          </p:cNvSpPr>
          <p:nvPr/>
        </p:nvSpPr>
        <p:spPr>
          <a:xfrm>
            <a:off x="5572125" y="4743450"/>
            <a:ext cx="5619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fluent answer is not enough when the user cannot inspect its sources or understand how the system reached it.</a:t>
            </a:r>
          </a:p>
        </p:txBody>
      </p:sp>
      <p:sp>
        <p:nvSpPr>
          <p:cNvPr id="15" name="footer-2">
            <a:extLst>
              <a:ext uri="{FF2B5EF4-FFF2-40B4-BE49-F238E27FC236}">
                <a16:creationId xmlns:a16="http://schemas.microsoft.com/office/drawing/2014/main" id="{7C2D7C6A-AF67-4761-B0EA-AEE081B85BDC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16" name="folio-2">
            <a:extLst>
              <a:ext uri="{FF2B5EF4-FFF2-40B4-BE49-F238E27FC236}">
                <a16:creationId xmlns:a16="http://schemas.microsoft.com/office/drawing/2014/main" id="{FD5B0095-AA6C-4EA3-A579-CA4635B77357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451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DED9BFBA-0A4C-45BC-83C0-CFF62EF16FB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One application, three user journeys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FACC64B-C1CB-4CCE-872B-51714805FB50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Each journey shares the same evidence and source model.</a:t>
            </a:r>
          </a:p>
        </p:txBody>
      </p:sp>
      <p:cxnSp>
        <p:nvCxnSpPr>
          <p:cNvPr id="22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cxnSp>
        <p:nvCxnSpPr>
          <p:cNvPr id="23" name="journey-base"/>
          <p:cNvCxnSpPr/>
          <p:nvPr/>
        </p:nvCxnSpPr>
        <p:spPr>
          <a:xfrm>
            <a:off x="1485900" y="3257550"/>
            <a:ext cx="9182100" cy="0"/>
          </a:xfrm>
          <a:prstGeom prst="straightConnector1">
            <a:avLst/>
          </a:prstGeom>
          <a:ln w="28575">
            <a:solidFill>
              <a:srgbClr val="D8A83E"/>
            </a:solidFill>
            <a:prstDash val="solid"/>
          </a:ln>
        </p:spPr>
      </p:cxnSp>
      <p:sp>
        <p:nvSpPr>
          <p:cNvPr id="5" name="journey-dot-0">
            <a:extLst>
              <a:ext uri="{FF2B5EF4-FFF2-40B4-BE49-F238E27FC236}">
                <a16:creationId xmlns:a16="http://schemas.microsoft.com/office/drawing/2014/main" id="{6B27628E-75C2-4A78-9F53-2E3BEFD78ED6}"/>
              </a:ext>
            </a:extLst>
          </p:cNvPr>
          <p:cNvSpPr>
            <a:spLocks noGrp="1"/>
          </p:cNvSpPr>
          <p:nvPr/>
        </p:nvSpPr>
        <p:spPr>
          <a:xfrm>
            <a:off x="2238375" y="3124200"/>
            <a:ext cx="266700" cy="266700"/>
          </a:xfrm>
          <a:prstGeom prst="ellipse">
            <a:avLst/>
          </a:prstGeom>
          <a:solidFill>
            <a:srgbClr val="1F5B4F"/>
          </a:solidFill>
          <a:ln w="0">
            <a:noFill/>
            <a:prstDash val="solid"/>
          </a:ln>
        </p:spPr>
      </p:sp>
      <p:sp>
        <p:nvSpPr>
          <p:cNvPr id="6" name="journey-head-0">
            <a:extLst>
              <a:ext uri="{FF2B5EF4-FFF2-40B4-BE49-F238E27FC236}">
                <a16:creationId xmlns:a16="http://schemas.microsoft.com/office/drawing/2014/main" id="{EE8C57B6-77FE-4BCC-B5C6-C06471A1A00A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ASK AI</a:t>
            </a:r>
          </a:p>
        </p:txBody>
      </p:sp>
      <p:sp>
        <p:nvSpPr>
          <p:cNvPr id="7" name="journey-body-0">
            <a:extLst>
              <a:ext uri="{FF2B5EF4-FFF2-40B4-BE49-F238E27FC236}">
                <a16:creationId xmlns:a16="http://schemas.microsoft.com/office/drawing/2014/main" id="{E305BB65-9B3C-4B53-BF0B-AEF49B6CE9A6}"/>
              </a:ext>
            </a:extLst>
          </p:cNvPr>
          <p:cNvSpPr>
            <a:spLocks noGrp="1"/>
          </p:cNvSpPr>
          <p:nvPr/>
        </p:nvSpPr>
        <p:spPr>
          <a:xfrm>
            <a:off x="857250" y="2457450"/>
            <a:ext cx="304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3862" lnSpcReduction="10000"/>
          </a:bodyPr>
          <a:lstStyle/>
          <a:p>
            <a:pPr algn="ctr">
              <a:defRPr sz="18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Research official documents</a:t>
            </a:r>
          </a:p>
        </p:txBody>
      </p:sp>
      <p:sp>
        <p:nvSpPr>
          <p:cNvPr id="8" name="journey-copy-0">
            <a:extLst>
              <a:ext uri="{FF2B5EF4-FFF2-40B4-BE49-F238E27FC236}">
                <a16:creationId xmlns:a16="http://schemas.microsoft.com/office/drawing/2014/main" id="{A77A5550-6FF8-4845-8CC3-68D33A080366}"/>
              </a:ext>
            </a:extLst>
          </p:cNvPr>
          <p:cNvSpPr>
            <a:spLocks noGrp="1"/>
          </p:cNvSpPr>
          <p:nvPr/>
        </p:nvSpPr>
        <p:spPr>
          <a:xfrm>
            <a:off x="1009650" y="3638550"/>
            <a:ext cx="2743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Questions, follow-ups and citations</a:t>
            </a:r>
          </a:p>
        </p:txBody>
      </p:sp>
      <p:sp>
        <p:nvSpPr>
          <p:cNvPr id="9" name="journey-dot-1">
            <a:extLst>
              <a:ext uri="{FF2B5EF4-FFF2-40B4-BE49-F238E27FC236}">
                <a16:creationId xmlns:a16="http://schemas.microsoft.com/office/drawing/2014/main" id="{8A92DDB5-B5B0-4375-A37F-5291F4EE3E07}"/>
              </a:ext>
            </a:extLst>
          </p:cNvPr>
          <p:cNvSpPr>
            <a:spLocks noGrp="1"/>
          </p:cNvSpPr>
          <p:nvPr/>
        </p:nvSpPr>
        <p:spPr>
          <a:xfrm>
            <a:off x="6019800" y="3124200"/>
            <a:ext cx="266700" cy="266700"/>
          </a:xfrm>
          <a:prstGeom prst="ellipse">
            <a:avLst/>
          </a:prstGeom>
          <a:solidFill>
            <a:srgbClr val="D8A83E"/>
          </a:solidFill>
          <a:ln w="0">
            <a:noFill/>
            <a:prstDash val="solid"/>
          </a:ln>
        </p:spPr>
      </p:sp>
      <p:sp>
        <p:nvSpPr>
          <p:cNvPr id="10" name="journey-head-1">
            <a:extLst>
              <a:ext uri="{FF2B5EF4-FFF2-40B4-BE49-F238E27FC236}">
                <a16:creationId xmlns:a16="http://schemas.microsoft.com/office/drawing/2014/main" id="{FFD7503E-096A-4250-BE91-4877D8B8C44D}"/>
              </a:ext>
            </a:extLst>
          </p:cNvPr>
          <p:cNvSpPr>
            <a:spLocks noGrp="1"/>
          </p:cNvSpPr>
          <p:nvPr/>
        </p:nvSpPr>
        <p:spPr>
          <a:xfrm>
            <a:off x="4638675" y="2000250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BUSINESS ADVISOR</a:t>
            </a:r>
          </a:p>
        </p:txBody>
      </p:sp>
      <p:sp>
        <p:nvSpPr>
          <p:cNvPr id="11" name="journey-body-1">
            <a:extLst>
              <a:ext uri="{FF2B5EF4-FFF2-40B4-BE49-F238E27FC236}">
                <a16:creationId xmlns:a16="http://schemas.microsoft.com/office/drawing/2014/main" id="{43F12917-B651-4925-9590-27D077E24191}"/>
              </a:ext>
            </a:extLst>
          </p:cNvPr>
          <p:cNvSpPr>
            <a:spLocks noGrp="1"/>
          </p:cNvSpPr>
          <p:nvPr/>
        </p:nvSpPr>
        <p:spPr>
          <a:xfrm>
            <a:off x="4638675" y="2457450"/>
            <a:ext cx="304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4362" lnSpcReduction="10000"/>
          </a:bodyPr>
          <a:lstStyle/>
          <a:p>
            <a:pPr algn="ctr">
              <a:defRPr sz="18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Turn evidence into decisions</a:t>
            </a:r>
          </a:p>
        </p:txBody>
      </p:sp>
      <p:sp>
        <p:nvSpPr>
          <p:cNvPr id="12" name="journey-copy-1">
            <a:extLst>
              <a:ext uri="{FF2B5EF4-FFF2-40B4-BE49-F238E27FC236}">
                <a16:creationId xmlns:a16="http://schemas.microsoft.com/office/drawing/2014/main" id="{FBF58B7A-6228-49EE-88FF-4DA6257B11B6}"/>
              </a:ext>
            </a:extLst>
          </p:cNvPr>
          <p:cNvSpPr>
            <a:spLocks noGrp="1"/>
          </p:cNvSpPr>
          <p:nvPr/>
        </p:nvSpPr>
        <p:spPr>
          <a:xfrm>
            <a:off x="4791075" y="3638550"/>
            <a:ext cx="2743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Opportunities, risks and next steps</a:t>
            </a:r>
          </a:p>
        </p:txBody>
      </p:sp>
      <p:sp>
        <p:nvSpPr>
          <p:cNvPr id="13" name="journey-dot-2">
            <a:extLst>
              <a:ext uri="{FF2B5EF4-FFF2-40B4-BE49-F238E27FC236}">
                <a16:creationId xmlns:a16="http://schemas.microsoft.com/office/drawing/2014/main" id="{28FC47F4-9882-4E37-BCF3-9D42AF829E6E}"/>
              </a:ext>
            </a:extLst>
          </p:cNvPr>
          <p:cNvSpPr>
            <a:spLocks noGrp="1"/>
          </p:cNvSpPr>
          <p:nvPr/>
        </p:nvSpPr>
        <p:spPr>
          <a:xfrm>
            <a:off x="9801225" y="3124200"/>
            <a:ext cx="266700" cy="266700"/>
          </a:xfrm>
          <a:prstGeom prst="ellipse">
            <a:avLst/>
          </a:prstGeom>
          <a:solidFill>
            <a:srgbClr val="1F5B4F"/>
          </a:solidFill>
          <a:ln w="0">
            <a:noFill/>
            <a:prstDash val="solid"/>
          </a:ln>
        </p:spPr>
      </p:sp>
      <p:sp>
        <p:nvSpPr>
          <p:cNvPr id="14" name="journey-head-2">
            <a:extLst>
              <a:ext uri="{FF2B5EF4-FFF2-40B4-BE49-F238E27FC236}">
                <a16:creationId xmlns:a16="http://schemas.microsoft.com/office/drawing/2014/main" id="{E63FF6C7-E0FE-4256-B7C7-7D53C35CBC2C}"/>
              </a:ext>
            </a:extLst>
          </p:cNvPr>
          <p:cNvSpPr>
            <a:spLocks noGrp="1"/>
          </p:cNvSpPr>
          <p:nvPr/>
        </p:nvSpPr>
        <p:spPr>
          <a:xfrm>
            <a:off x="8420100" y="2000250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LAND INTELLIGENCE</a:t>
            </a:r>
          </a:p>
        </p:txBody>
      </p:sp>
      <p:sp>
        <p:nvSpPr>
          <p:cNvPr id="15" name="journey-body-2">
            <a:extLst>
              <a:ext uri="{FF2B5EF4-FFF2-40B4-BE49-F238E27FC236}">
                <a16:creationId xmlns:a16="http://schemas.microsoft.com/office/drawing/2014/main" id="{0EC44C53-9FCD-41A6-ADB6-777D5DAC65D9}"/>
              </a:ext>
            </a:extLst>
          </p:cNvPr>
          <p:cNvSpPr>
            <a:spLocks noGrp="1"/>
          </p:cNvSpPr>
          <p:nvPr/>
        </p:nvSpPr>
        <p:spPr>
          <a:xfrm>
            <a:off x="8420100" y="2457450"/>
            <a:ext cx="304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1702"/>
          </a:bodyPr>
          <a:lstStyle/>
          <a:p>
            <a:pPr algn="ctr">
              <a:defRPr sz="18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Interpret a survey or site plan</a:t>
            </a:r>
          </a:p>
        </p:txBody>
      </p:sp>
      <p:sp>
        <p:nvSpPr>
          <p:cNvPr id="16" name="journey-copy-2">
            <a:extLst>
              <a:ext uri="{FF2B5EF4-FFF2-40B4-BE49-F238E27FC236}">
                <a16:creationId xmlns:a16="http://schemas.microsoft.com/office/drawing/2014/main" id="{6B263BAF-0C29-4CF1-8EEB-89C0A2D94A30}"/>
              </a:ext>
            </a:extLst>
          </p:cNvPr>
          <p:cNvSpPr>
            <a:spLocks noGrp="1"/>
          </p:cNvSpPr>
          <p:nvPr/>
        </p:nvSpPr>
        <p:spPr>
          <a:xfrm>
            <a:off x="8572500" y="3638550"/>
            <a:ext cx="2743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Vision, location and nearby context</a:t>
            </a:r>
          </a:p>
        </p:txBody>
      </p:sp>
      <p:sp>
        <p:nvSpPr>
          <p:cNvPr id="17" name="journey-principle">
            <a:extLst>
              <a:ext uri="{FF2B5EF4-FFF2-40B4-BE49-F238E27FC236}">
                <a16:creationId xmlns:a16="http://schemas.microsoft.com/office/drawing/2014/main" id="{D5FA6501-0076-49EB-998E-A5856A2FC4A2}"/>
              </a:ext>
            </a:extLst>
          </p:cNvPr>
          <p:cNvSpPr>
            <a:spLocks noGrp="1"/>
          </p:cNvSpPr>
          <p:nvPr/>
        </p:nvSpPr>
        <p:spPr>
          <a:xfrm>
            <a:off x="1524000" y="5143500"/>
            <a:ext cx="9144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 lnSpcReduction="10000"/>
          </a:bodyPr>
          <a:lstStyle/>
          <a:p>
            <a:pPr algn="ctr">
              <a:defRPr sz="18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The interface keeps document evidence, external map data and AI interpretation visibly separate.</a:t>
            </a:r>
          </a:p>
        </p:txBody>
      </p:sp>
      <p:sp>
        <p:nvSpPr>
          <p:cNvPr id="18" name="footer-3">
            <a:extLst>
              <a:ext uri="{FF2B5EF4-FFF2-40B4-BE49-F238E27FC236}">
                <a16:creationId xmlns:a16="http://schemas.microsoft.com/office/drawing/2014/main" id="{321B1CAA-CDDB-40F3-B9BA-60423F00A493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19" name="folio-3">
            <a:extLst>
              <a:ext uri="{FF2B5EF4-FFF2-40B4-BE49-F238E27FC236}">
                <a16:creationId xmlns:a16="http://schemas.microsoft.com/office/drawing/2014/main" id="{A5236120-F874-4A6C-820B-24416D15ABAB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959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9C05D140-3D79-4F17-B730-19DCCCE9D19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System architecture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12DEEBF-C4AC-4DF9-9471-0D3270DA9C12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agent connects the interface to retrieval, advice and land-analysis tools.</a:t>
            </a:r>
          </a:p>
        </p:txBody>
      </p:sp>
      <p:cxnSp>
        <p:nvCxnSpPr>
          <p:cNvPr id="32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cxnSp>
        <p:nvCxnSpPr>
          <p:cNvPr id="33" name="arch-ui-api"/>
          <p:cNvCxnSpPr/>
          <p:nvPr/>
        </p:nvCxnSpPr>
        <p:spPr>
          <a:xfrm>
            <a:off x="1962150" y="2457450"/>
            <a:ext cx="895350" cy="0"/>
          </a:xfrm>
          <a:prstGeom prst="straightConnector1">
            <a:avLst/>
          </a:prstGeom>
          <a:ln w="28575">
            <a:solidFill>
              <a:srgbClr val="D8A83E"/>
            </a:solidFill>
            <a:prstDash val="solid"/>
          </a:ln>
        </p:spPr>
      </p:cxnSp>
      <p:cxnSp>
        <p:nvCxnSpPr>
          <p:cNvPr id="34" name="arch-api-agent"/>
          <p:cNvCxnSpPr/>
          <p:nvPr/>
        </p:nvCxnSpPr>
        <p:spPr>
          <a:xfrm>
            <a:off x="4324350" y="2457450"/>
            <a:ext cx="800100" cy="0"/>
          </a:xfrm>
          <a:prstGeom prst="straightConnector1">
            <a:avLst/>
          </a:prstGeom>
          <a:ln w="28575">
            <a:solidFill>
              <a:srgbClr val="D8A83E"/>
            </a:solidFill>
            <a:prstDash val="solid"/>
          </a:ln>
        </p:spPr>
      </p:cxnSp>
      <p:cxnSp>
        <p:nvCxnSpPr>
          <p:cNvPr id="35" name="arch-agent-rag"/>
          <p:cNvCxnSpPr>
            <a:cxnSpLocks/>
          </p:cNvCxnSpPr>
          <p:nvPr/>
        </p:nvCxnSpPr>
        <p:spPr>
          <a:xfrm flipV="1">
            <a:off x="6624675" y="1524000"/>
            <a:ext cx="766725" cy="736075"/>
          </a:xfrm>
          <a:prstGeom prst="straightConnector1">
            <a:avLst/>
          </a:prstGeom>
          <a:ln w="19050">
            <a:solidFill>
              <a:srgbClr val="357565"/>
            </a:solidFill>
            <a:prstDash val="solid"/>
          </a:ln>
        </p:spPr>
      </p:cxnSp>
      <p:cxnSp>
        <p:nvCxnSpPr>
          <p:cNvPr id="36" name="arch-agent-advisor"/>
          <p:cNvCxnSpPr/>
          <p:nvPr/>
        </p:nvCxnSpPr>
        <p:spPr>
          <a:xfrm>
            <a:off x="6610350" y="2647950"/>
            <a:ext cx="781050" cy="819150"/>
          </a:xfrm>
          <a:prstGeom prst="straightConnector1">
            <a:avLst/>
          </a:prstGeom>
          <a:ln w="19050">
            <a:solidFill>
              <a:srgbClr val="357565"/>
            </a:solidFill>
            <a:prstDash val="solid"/>
          </a:ln>
        </p:spPr>
      </p:cxnSp>
      <p:cxnSp>
        <p:nvCxnSpPr>
          <p:cNvPr id="37" name="arch-rag-db"/>
          <p:cNvCxnSpPr/>
          <p:nvPr/>
        </p:nvCxnSpPr>
        <p:spPr>
          <a:xfrm>
            <a:off x="9105900" y="1657350"/>
            <a:ext cx="666750" cy="0"/>
          </a:xfrm>
          <a:prstGeom prst="straightConnector1">
            <a:avLst/>
          </a:prstGeom>
          <a:ln w="19050">
            <a:solidFill>
              <a:srgbClr val="357565"/>
            </a:solidFill>
            <a:prstDash val="solid"/>
          </a:ln>
        </p:spPr>
      </p:cxnSp>
      <p:cxnSp>
        <p:nvCxnSpPr>
          <p:cNvPr id="38" name="arch-advisor-land"/>
          <p:cNvCxnSpPr/>
          <p:nvPr/>
        </p:nvCxnSpPr>
        <p:spPr>
          <a:xfrm>
            <a:off x="9105900" y="3467100"/>
            <a:ext cx="666750" cy="0"/>
          </a:xfrm>
          <a:prstGeom prst="straightConnector1">
            <a:avLst/>
          </a:prstGeom>
          <a:ln w="19050">
            <a:solidFill>
              <a:srgbClr val="357565"/>
            </a:solidFill>
            <a:prstDash val="solid"/>
          </a:ln>
        </p:spPr>
      </p:cxnSp>
      <p:sp>
        <p:nvSpPr>
          <p:cNvPr id="10" name="arch-ui-box">
            <a:extLst>
              <a:ext uri="{FF2B5EF4-FFF2-40B4-BE49-F238E27FC236}">
                <a16:creationId xmlns:a16="http://schemas.microsoft.com/office/drawing/2014/main" id="{827E94B5-BC5D-441D-B38A-02FAF5B13679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3525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0C5"/>
            </a:solidFill>
            <a:prstDash val="solid"/>
          </a:ln>
        </p:spPr>
      </p:sp>
      <p:sp>
        <p:nvSpPr>
          <p:cNvPr id="11" name="arch-ui-text">
            <a:extLst>
              <a:ext uri="{FF2B5EF4-FFF2-40B4-BE49-F238E27FC236}">
                <a16:creationId xmlns:a16="http://schemas.microsoft.com/office/drawing/2014/main" id="{841B409E-6694-4358-BE72-328F930DF1FE}"/>
              </a:ext>
            </a:extLst>
          </p:cNvPr>
          <p:cNvSpPr>
            <a:spLocks noGrp="1"/>
          </p:cNvSpPr>
          <p:nvPr/>
        </p:nvSpPr>
        <p:spPr>
          <a:xfrm>
            <a:off x="704850" y="2200275"/>
            <a:ext cx="11620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Next.js UI</a:t>
            </a:r>
          </a:p>
        </p:txBody>
      </p:sp>
      <p:sp>
        <p:nvSpPr>
          <p:cNvPr id="12" name="arch-api-box">
            <a:extLst>
              <a:ext uri="{FF2B5EF4-FFF2-40B4-BE49-F238E27FC236}">
                <a16:creationId xmlns:a16="http://schemas.microsoft.com/office/drawing/2014/main" id="{8E43A13D-DA53-4939-BE3C-75FFBB3CCE89}"/>
              </a:ext>
            </a:extLst>
          </p:cNvPr>
          <p:cNvSpPr>
            <a:spLocks noGrp="1"/>
          </p:cNvSpPr>
          <p:nvPr/>
        </p:nvSpPr>
        <p:spPr>
          <a:xfrm>
            <a:off x="2857500" y="2076450"/>
            <a:ext cx="14668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0C5"/>
            </a:solidFill>
            <a:prstDash val="solid"/>
          </a:ln>
        </p:spPr>
      </p:sp>
      <p:sp>
        <p:nvSpPr>
          <p:cNvPr id="13" name="arch-api-text">
            <a:extLst>
              <a:ext uri="{FF2B5EF4-FFF2-40B4-BE49-F238E27FC236}">
                <a16:creationId xmlns:a16="http://schemas.microsoft.com/office/drawing/2014/main" id="{CC1958D5-229C-4385-8C48-143F18D8A248}"/>
              </a:ext>
            </a:extLst>
          </p:cNvPr>
          <p:cNvSpPr>
            <a:spLocks noGrp="1"/>
          </p:cNvSpPr>
          <p:nvPr/>
        </p:nvSpPr>
        <p:spPr>
          <a:xfrm>
            <a:off x="2952750" y="2200275"/>
            <a:ext cx="12763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14" name="arch-agent-box">
            <a:extLst>
              <a:ext uri="{FF2B5EF4-FFF2-40B4-BE49-F238E27FC236}">
                <a16:creationId xmlns:a16="http://schemas.microsoft.com/office/drawing/2014/main" id="{35682FE7-64DD-49FF-B95B-CACDA7EAE53B}"/>
              </a:ext>
            </a:extLst>
          </p:cNvPr>
          <p:cNvSpPr>
            <a:spLocks noGrp="1"/>
          </p:cNvSpPr>
          <p:nvPr/>
        </p:nvSpPr>
        <p:spPr>
          <a:xfrm>
            <a:off x="5124450" y="1981200"/>
            <a:ext cx="1485900" cy="952500"/>
          </a:xfrm>
          <a:prstGeom prst="roundRect">
            <a:avLst>
              <a:gd name="adj" fmla="val 8000"/>
            </a:avLst>
          </a:prstGeom>
          <a:solidFill>
            <a:srgbClr val="1F5B4F"/>
          </a:solidFill>
          <a:ln w="9525">
            <a:solidFill>
              <a:srgbClr val="1F5B4F"/>
            </a:solidFill>
            <a:prstDash val="solid"/>
          </a:ln>
        </p:spPr>
      </p:sp>
      <p:sp>
        <p:nvSpPr>
          <p:cNvPr id="15" name="arch-agent-text">
            <a:extLst>
              <a:ext uri="{FF2B5EF4-FFF2-40B4-BE49-F238E27FC236}">
                <a16:creationId xmlns:a16="http://schemas.microsoft.com/office/drawing/2014/main" id="{48B4DA88-7E22-4A9B-AE24-2BEC27A427A4}"/>
              </a:ext>
            </a:extLst>
          </p:cNvPr>
          <p:cNvSpPr>
            <a:spLocks noGrp="1"/>
          </p:cNvSpPr>
          <p:nvPr/>
        </p:nvSpPr>
        <p:spPr>
          <a:xfrm>
            <a:off x="5219700" y="2105025"/>
            <a:ext cx="12954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Agent router</a:t>
            </a:r>
          </a:p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 memory</a:t>
            </a:r>
          </a:p>
        </p:txBody>
      </p:sp>
      <p:sp>
        <p:nvSpPr>
          <p:cNvPr id="16" name="arch-rag-box">
            <a:extLst>
              <a:ext uri="{FF2B5EF4-FFF2-40B4-BE49-F238E27FC236}">
                <a16:creationId xmlns:a16="http://schemas.microsoft.com/office/drawing/2014/main" id="{D8613B77-2DF1-4496-B396-D3BF6AF6751E}"/>
              </a:ext>
            </a:extLst>
          </p:cNvPr>
          <p:cNvSpPr>
            <a:spLocks noGrp="1"/>
          </p:cNvSpPr>
          <p:nvPr/>
        </p:nvSpPr>
        <p:spPr>
          <a:xfrm>
            <a:off x="7391400" y="1181100"/>
            <a:ext cx="1714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0C5"/>
            </a:solidFill>
            <a:prstDash val="solid"/>
          </a:ln>
        </p:spPr>
      </p:sp>
      <p:sp>
        <p:nvSpPr>
          <p:cNvPr id="17" name="arch-rag-text">
            <a:extLst>
              <a:ext uri="{FF2B5EF4-FFF2-40B4-BE49-F238E27FC236}">
                <a16:creationId xmlns:a16="http://schemas.microsoft.com/office/drawing/2014/main" id="{E5F03659-4ABE-4269-AD7B-A972A87CDDF4}"/>
              </a:ext>
            </a:extLst>
          </p:cNvPr>
          <p:cNvSpPr>
            <a:spLocks noGrp="1"/>
          </p:cNvSpPr>
          <p:nvPr/>
        </p:nvSpPr>
        <p:spPr>
          <a:xfrm>
            <a:off x="7486650" y="1304925"/>
            <a:ext cx="1524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Knowledge search</a:t>
            </a:r>
          </a:p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RAG pipeline</a:t>
            </a:r>
          </a:p>
        </p:txBody>
      </p:sp>
      <p:sp>
        <p:nvSpPr>
          <p:cNvPr id="18" name="arch-advisor-box">
            <a:extLst>
              <a:ext uri="{FF2B5EF4-FFF2-40B4-BE49-F238E27FC236}">
                <a16:creationId xmlns:a16="http://schemas.microsoft.com/office/drawing/2014/main" id="{CBAF001F-16CB-49C8-B378-33F89CA708BC}"/>
              </a:ext>
            </a:extLst>
          </p:cNvPr>
          <p:cNvSpPr>
            <a:spLocks noGrp="1"/>
          </p:cNvSpPr>
          <p:nvPr/>
        </p:nvSpPr>
        <p:spPr>
          <a:xfrm>
            <a:off x="7391400" y="3028950"/>
            <a:ext cx="1714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4D0C5"/>
            </a:solidFill>
            <a:prstDash val="solid"/>
          </a:ln>
        </p:spPr>
      </p:sp>
      <p:sp>
        <p:nvSpPr>
          <p:cNvPr id="19" name="arch-advisor-text">
            <a:extLst>
              <a:ext uri="{FF2B5EF4-FFF2-40B4-BE49-F238E27FC236}">
                <a16:creationId xmlns:a16="http://schemas.microsoft.com/office/drawing/2014/main" id="{5DA8CCF6-3EAD-46B1-B3CD-7988880EE1FE}"/>
              </a:ext>
            </a:extLst>
          </p:cNvPr>
          <p:cNvSpPr>
            <a:spLocks noGrp="1"/>
          </p:cNvSpPr>
          <p:nvPr/>
        </p:nvSpPr>
        <p:spPr>
          <a:xfrm>
            <a:off x="7486650" y="3152775"/>
            <a:ext cx="1524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Business Advisor</a:t>
            </a:r>
          </a:p>
        </p:txBody>
      </p:sp>
      <p:sp>
        <p:nvSpPr>
          <p:cNvPr id="20" name="arch-db-box">
            <a:extLst>
              <a:ext uri="{FF2B5EF4-FFF2-40B4-BE49-F238E27FC236}">
                <a16:creationId xmlns:a16="http://schemas.microsoft.com/office/drawing/2014/main" id="{D0F1A579-8601-4A41-AB62-9197FF9CEC2E}"/>
              </a:ext>
            </a:extLst>
          </p:cNvPr>
          <p:cNvSpPr>
            <a:spLocks noGrp="1"/>
          </p:cNvSpPr>
          <p:nvPr/>
        </p:nvSpPr>
        <p:spPr>
          <a:xfrm>
            <a:off x="9772650" y="1181100"/>
            <a:ext cx="1752600" cy="952500"/>
          </a:xfrm>
          <a:prstGeom prst="roundRect">
            <a:avLst>
              <a:gd name="adj" fmla="val 8000"/>
            </a:avLst>
          </a:prstGeom>
          <a:solidFill>
            <a:srgbClr val="203B39"/>
          </a:solidFill>
          <a:ln w="9525">
            <a:solidFill>
              <a:srgbClr val="203B39"/>
            </a:solidFill>
            <a:prstDash val="solid"/>
          </a:ln>
        </p:spPr>
      </p:sp>
      <p:sp>
        <p:nvSpPr>
          <p:cNvPr id="21" name="arch-db-text">
            <a:extLst>
              <a:ext uri="{FF2B5EF4-FFF2-40B4-BE49-F238E27FC236}">
                <a16:creationId xmlns:a16="http://schemas.microsoft.com/office/drawing/2014/main" id="{82AEB2FB-6DA3-4EC1-B275-CCD7CBD2F424}"/>
              </a:ext>
            </a:extLst>
          </p:cNvPr>
          <p:cNvSpPr>
            <a:spLocks noGrp="1"/>
          </p:cNvSpPr>
          <p:nvPr/>
        </p:nvSpPr>
        <p:spPr>
          <a:xfrm>
            <a:off x="9867900" y="1304925"/>
            <a:ext cx="15621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 pgvector</a:t>
            </a:r>
          </a:p>
        </p:txBody>
      </p:sp>
      <p:sp>
        <p:nvSpPr>
          <p:cNvPr id="22" name="arch-land-box">
            <a:extLst>
              <a:ext uri="{FF2B5EF4-FFF2-40B4-BE49-F238E27FC236}">
                <a16:creationId xmlns:a16="http://schemas.microsoft.com/office/drawing/2014/main" id="{3E6FAA13-F164-41F2-B536-E393752718D5}"/>
              </a:ext>
            </a:extLst>
          </p:cNvPr>
          <p:cNvSpPr>
            <a:spLocks noGrp="1"/>
          </p:cNvSpPr>
          <p:nvPr/>
        </p:nvSpPr>
        <p:spPr>
          <a:xfrm>
            <a:off x="9772650" y="3009900"/>
            <a:ext cx="1752600" cy="952500"/>
          </a:xfrm>
          <a:prstGeom prst="roundRect">
            <a:avLst>
              <a:gd name="adj" fmla="val 8000"/>
            </a:avLst>
          </a:prstGeom>
          <a:solidFill>
            <a:srgbClr val="203B39"/>
          </a:solidFill>
          <a:ln w="9525">
            <a:solidFill>
              <a:srgbClr val="203B39"/>
            </a:solidFill>
            <a:prstDash val="solid"/>
          </a:ln>
        </p:spPr>
      </p:sp>
      <p:sp>
        <p:nvSpPr>
          <p:cNvPr id="23" name="arch-land-text">
            <a:extLst>
              <a:ext uri="{FF2B5EF4-FFF2-40B4-BE49-F238E27FC236}">
                <a16:creationId xmlns:a16="http://schemas.microsoft.com/office/drawing/2014/main" id="{71F8A34D-BEE6-47D2-AD5F-3F47ECC42751}"/>
              </a:ext>
            </a:extLst>
          </p:cNvPr>
          <p:cNvSpPr>
            <a:spLocks noGrp="1"/>
          </p:cNvSpPr>
          <p:nvPr/>
        </p:nvSpPr>
        <p:spPr>
          <a:xfrm>
            <a:off x="9867900" y="3133725"/>
            <a:ext cx="15621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Land Intelligence</a:t>
            </a:r>
          </a:p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Vision + OSM</a:t>
            </a:r>
          </a:p>
        </p:txBody>
      </p:sp>
      <p:cxnSp>
        <p:nvCxnSpPr>
          <p:cNvPr id="53" name="arch-trace-line"/>
          <p:cNvCxnSpPr/>
          <p:nvPr/>
        </p:nvCxnSpPr>
        <p:spPr>
          <a:xfrm>
            <a:off x="5867400" y="2933700"/>
            <a:ext cx="0" cy="1714500"/>
          </a:xfrm>
          <a:prstGeom prst="straightConnector1">
            <a:avLst/>
          </a:prstGeom>
          <a:ln w="19050">
            <a:solidFill>
              <a:srgbClr val="D8A83E"/>
            </a:solidFill>
            <a:prstDash val="solid"/>
          </a:ln>
        </p:spPr>
      </p:cxnSp>
      <p:sp>
        <p:nvSpPr>
          <p:cNvPr id="25" name="arch-trace-box">
            <a:extLst>
              <a:ext uri="{FF2B5EF4-FFF2-40B4-BE49-F238E27FC236}">
                <a16:creationId xmlns:a16="http://schemas.microsoft.com/office/drawing/2014/main" id="{8E54BE2A-4548-4831-B971-B0FCCE91C5B3}"/>
              </a:ext>
            </a:extLst>
          </p:cNvPr>
          <p:cNvSpPr>
            <a:spLocks noGrp="1"/>
          </p:cNvSpPr>
          <p:nvPr/>
        </p:nvSpPr>
        <p:spPr>
          <a:xfrm>
            <a:off x="4953000" y="4648200"/>
            <a:ext cx="1828800" cy="685800"/>
          </a:xfrm>
          <a:prstGeom prst="roundRect">
            <a:avLst>
              <a:gd name="adj" fmla="val 11111"/>
            </a:avLst>
          </a:prstGeom>
          <a:solidFill>
            <a:srgbClr val="D8A83E"/>
          </a:solidFill>
          <a:ln w="9525">
            <a:solidFill>
              <a:srgbClr val="D8A83E"/>
            </a:solidFill>
            <a:prstDash val="solid"/>
          </a:ln>
        </p:spPr>
      </p:sp>
      <p:sp>
        <p:nvSpPr>
          <p:cNvPr id="26" name="arch-trace-text">
            <a:extLst>
              <a:ext uri="{FF2B5EF4-FFF2-40B4-BE49-F238E27FC236}">
                <a16:creationId xmlns:a16="http://schemas.microsoft.com/office/drawing/2014/main" id="{1186A63B-0B99-43FD-B1A9-A7FB6CB1EF04}"/>
              </a:ext>
            </a:extLst>
          </p:cNvPr>
          <p:cNvSpPr>
            <a:spLocks noGrp="1"/>
          </p:cNvSpPr>
          <p:nvPr/>
        </p:nvSpPr>
        <p:spPr>
          <a:xfrm>
            <a:off x="5048250" y="4772025"/>
            <a:ext cx="1638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LangSmith traces</a:t>
            </a:r>
          </a:p>
        </p:txBody>
      </p:sp>
      <p:sp>
        <p:nvSpPr>
          <p:cNvPr id="27" name="arch-caption">
            <a:extLst>
              <a:ext uri="{FF2B5EF4-FFF2-40B4-BE49-F238E27FC236}">
                <a16:creationId xmlns:a16="http://schemas.microsoft.com/office/drawing/2014/main" id="{C1D7E066-BB60-4553-A3EB-49B471B685E1}"/>
              </a:ext>
            </a:extLst>
          </p:cNvPr>
          <p:cNvSpPr>
            <a:spLocks noGrp="1"/>
          </p:cNvSpPr>
          <p:nvPr/>
        </p:nvSpPr>
        <p:spPr>
          <a:xfrm>
            <a:off x="1409700" y="5810250"/>
            <a:ext cx="9372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 lnSpcReduction="10000"/>
          </a:bodyPr>
          <a:lstStyle/>
          <a:p>
            <a:pPr algn="ctr">
              <a:defRPr sz="150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Official PDFs become retrievable evidence. Land documents become structured reports. Every multi-step run can be inspected.</a:t>
            </a:r>
          </a:p>
        </p:txBody>
      </p:sp>
      <p:sp>
        <p:nvSpPr>
          <p:cNvPr id="28" name="footer-4">
            <a:extLst>
              <a:ext uri="{FF2B5EF4-FFF2-40B4-BE49-F238E27FC236}">
                <a16:creationId xmlns:a16="http://schemas.microsoft.com/office/drawing/2014/main" id="{2AA51FBD-B3D9-4CC9-956A-3971A10977F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29" name="folio-4">
            <a:extLst>
              <a:ext uri="{FF2B5EF4-FFF2-40B4-BE49-F238E27FC236}">
                <a16:creationId xmlns:a16="http://schemas.microsoft.com/office/drawing/2014/main" id="{04D9CE55-5580-4B26-A583-1E0A282D59BB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429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3390E053-DE7F-42CD-8C9F-0C110244990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Document ingestion and source metadata</a:t>
            </a:r>
          </a:p>
        </p:txBody>
      </p:sp>
      <p:cxnSp>
        <p:nvCxnSpPr>
          <p:cNvPr id="22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cxnSp>
        <p:nvCxnSpPr>
          <p:cNvPr id="23" name="ingest-line"/>
          <p:cNvCxnSpPr/>
          <p:nvPr/>
        </p:nvCxnSpPr>
        <p:spPr>
          <a:xfrm>
            <a:off x="1143000" y="2724150"/>
            <a:ext cx="9906000" cy="0"/>
          </a:xfrm>
          <a:prstGeom prst="straightConnector1">
            <a:avLst/>
          </a:prstGeom>
          <a:ln w="28575">
            <a:solidFill>
              <a:srgbClr val="D8A83E"/>
            </a:solidFill>
            <a:prstDash val="solid"/>
          </a:ln>
        </p:spPr>
      </p:cxnSp>
      <p:sp>
        <p:nvSpPr>
          <p:cNvPr id="4" name="ingest-dot-0">
            <a:extLst>
              <a:ext uri="{FF2B5EF4-FFF2-40B4-BE49-F238E27FC236}">
                <a16:creationId xmlns:a16="http://schemas.microsoft.com/office/drawing/2014/main" id="{73D8A2F2-73F2-4C95-9605-15BD4E13EF5D}"/>
              </a:ext>
            </a:extLst>
          </p:cNvPr>
          <p:cNvSpPr>
            <a:spLocks noGrp="1"/>
          </p:cNvSpPr>
          <p:nvPr/>
        </p:nvSpPr>
        <p:spPr>
          <a:xfrm>
            <a:off x="1352550" y="2571750"/>
            <a:ext cx="304800" cy="304800"/>
          </a:xfrm>
          <a:prstGeom prst="ellipse">
            <a:avLst/>
          </a:prstGeom>
          <a:solidFill>
            <a:srgbClr val="1F5B4F"/>
          </a:solidFill>
          <a:ln w="0">
            <a:noFill/>
            <a:prstDash val="solid"/>
          </a:ln>
        </p:spPr>
      </p:sp>
      <p:sp>
        <p:nvSpPr>
          <p:cNvPr id="5" name="ingest-label-0">
            <a:extLst>
              <a:ext uri="{FF2B5EF4-FFF2-40B4-BE49-F238E27FC236}">
                <a16:creationId xmlns:a16="http://schemas.microsoft.com/office/drawing/2014/main" id="{61E83C15-24DD-431A-82F6-4AB5D82A0D80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1676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Collect PDFs</a:t>
            </a:r>
          </a:p>
        </p:txBody>
      </p:sp>
      <p:sp>
        <p:nvSpPr>
          <p:cNvPr id="6" name="ingest-dot-1">
            <a:extLst>
              <a:ext uri="{FF2B5EF4-FFF2-40B4-BE49-F238E27FC236}">
                <a16:creationId xmlns:a16="http://schemas.microsoft.com/office/drawing/2014/main" id="{01750A2B-E77D-4F1A-9394-8C0DA151BBC9}"/>
              </a:ext>
            </a:extLst>
          </p:cNvPr>
          <p:cNvSpPr>
            <a:spLocks noGrp="1"/>
          </p:cNvSpPr>
          <p:nvPr/>
        </p:nvSpPr>
        <p:spPr>
          <a:xfrm>
            <a:off x="3619500" y="2571750"/>
            <a:ext cx="304800" cy="304800"/>
          </a:xfrm>
          <a:prstGeom prst="ellipse">
            <a:avLst/>
          </a:prstGeom>
          <a:solidFill>
            <a:srgbClr val="1F5B4F"/>
          </a:solidFill>
          <a:ln w="0">
            <a:noFill/>
            <a:prstDash val="solid"/>
          </a:ln>
        </p:spPr>
      </p:sp>
      <p:sp>
        <p:nvSpPr>
          <p:cNvPr id="7" name="ingest-label-1">
            <a:extLst>
              <a:ext uri="{FF2B5EF4-FFF2-40B4-BE49-F238E27FC236}">
                <a16:creationId xmlns:a16="http://schemas.microsoft.com/office/drawing/2014/main" id="{3159FBF4-DFEA-4487-9BC2-0CE561B0B800}"/>
              </a:ext>
            </a:extLst>
          </p:cNvPr>
          <p:cNvSpPr>
            <a:spLocks noGrp="1"/>
          </p:cNvSpPr>
          <p:nvPr/>
        </p:nvSpPr>
        <p:spPr>
          <a:xfrm>
            <a:off x="2933700" y="3105150"/>
            <a:ext cx="1676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Parse text</a:t>
            </a:r>
          </a:p>
        </p:txBody>
      </p:sp>
      <p:sp>
        <p:nvSpPr>
          <p:cNvPr id="8" name="ingest-dot-2">
            <a:extLst>
              <a:ext uri="{FF2B5EF4-FFF2-40B4-BE49-F238E27FC236}">
                <a16:creationId xmlns:a16="http://schemas.microsoft.com/office/drawing/2014/main" id="{66D1ED21-BBFC-4051-BFE7-3769F6741F4B}"/>
              </a:ext>
            </a:extLst>
          </p:cNvPr>
          <p:cNvSpPr>
            <a:spLocks noGrp="1"/>
          </p:cNvSpPr>
          <p:nvPr/>
        </p:nvSpPr>
        <p:spPr>
          <a:xfrm>
            <a:off x="5886450" y="2571750"/>
            <a:ext cx="304800" cy="304800"/>
          </a:xfrm>
          <a:prstGeom prst="ellipse">
            <a:avLst/>
          </a:prstGeom>
          <a:solidFill>
            <a:srgbClr val="1F5B4F"/>
          </a:solidFill>
          <a:ln w="0">
            <a:noFill/>
            <a:prstDash val="solid"/>
          </a:ln>
        </p:spPr>
      </p:sp>
      <p:sp>
        <p:nvSpPr>
          <p:cNvPr id="9" name="ingest-label-2">
            <a:extLst>
              <a:ext uri="{FF2B5EF4-FFF2-40B4-BE49-F238E27FC236}">
                <a16:creationId xmlns:a16="http://schemas.microsoft.com/office/drawing/2014/main" id="{5B1D77F0-D84D-4378-B8A2-7B68C2999C88}"/>
              </a:ext>
            </a:extLst>
          </p:cNvPr>
          <p:cNvSpPr>
            <a:spLocks noGrp="1"/>
          </p:cNvSpPr>
          <p:nvPr/>
        </p:nvSpPr>
        <p:spPr>
          <a:xfrm>
            <a:off x="5200650" y="3105150"/>
            <a:ext cx="1676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Chunk content</a:t>
            </a:r>
          </a:p>
        </p:txBody>
      </p:sp>
      <p:sp>
        <p:nvSpPr>
          <p:cNvPr id="10" name="ingest-dot-3">
            <a:extLst>
              <a:ext uri="{FF2B5EF4-FFF2-40B4-BE49-F238E27FC236}">
                <a16:creationId xmlns:a16="http://schemas.microsoft.com/office/drawing/2014/main" id="{16599EDF-E2C4-48C7-ACF3-26610E7B390B}"/>
              </a:ext>
            </a:extLst>
          </p:cNvPr>
          <p:cNvSpPr>
            <a:spLocks noGrp="1"/>
          </p:cNvSpPr>
          <p:nvPr/>
        </p:nvSpPr>
        <p:spPr>
          <a:xfrm>
            <a:off x="8153400" y="2571750"/>
            <a:ext cx="304800" cy="304800"/>
          </a:xfrm>
          <a:prstGeom prst="ellipse">
            <a:avLst/>
          </a:prstGeom>
          <a:solidFill>
            <a:srgbClr val="1F5B4F"/>
          </a:solidFill>
          <a:ln w="0">
            <a:noFill/>
            <a:prstDash val="solid"/>
          </a:ln>
        </p:spPr>
      </p:sp>
      <p:sp>
        <p:nvSpPr>
          <p:cNvPr id="11" name="ingest-label-3">
            <a:extLst>
              <a:ext uri="{FF2B5EF4-FFF2-40B4-BE49-F238E27FC236}">
                <a16:creationId xmlns:a16="http://schemas.microsoft.com/office/drawing/2014/main" id="{81D97618-28C9-4DF9-8C79-F8F66C801E07}"/>
              </a:ext>
            </a:extLst>
          </p:cNvPr>
          <p:cNvSpPr>
            <a:spLocks noGrp="1"/>
          </p:cNvSpPr>
          <p:nvPr/>
        </p:nvSpPr>
        <p:spPr>
          <a:xfrm>
            <a:off x="7467600" y="3105150"/>
            <a:ext cx="1676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Create embeddings</a:t>
            </a:r>
          </a:p>
        </p:txBody>
      </p:sp>
      <p:sp>
        <p:nvSpPr>
          <p:cNvPr id="12" name="ingest-dot-4">
            <a:extLst>
              <a:ext uri="{FF2B5EF4-FFF2-40B4-BE49-F238E27FC236}">
                <a16:creationId xmlns:a16="http://schemas.microsoft.com/office/drawing/2014/main" id="{87AF4AEB-B5FE-43FD-94E2-2DD6FC61DAFB}"/>
              </a:ext>
            </a:extLst>
          </p:cNvPr>
          <p:cNvSpPr>
            <a:spLocks noGrp="1"/>
          </p:cNvSpPr>
          <p:nvPr/>
        </p:nvSpPr>
        <p:spPr>
          <a:xfrm>
            <a:off x="10420350" y="2571750"/>
            <a:ext cx="304800" cy="304800"/>
          </a:xfrm>
          <a:prstGeom prst="ellipse">
            <a:avLst/>
          </a:prstGeom>
          <a:solidFill>
            <a:srgbClr val="D8A83E"/>
          </a:solidFill>
          <a:ln w="0">
            <a:noFill/>
            <a:prstDash val="solid"/>
          </a:ln>
        </p:spPr>
      </p:sp>
      <p:sp>
        <p:nvSpPr>
          <p:cNvPr id="13" name="ingest-label-4">
            <a:extLst>
              <a:ext uri="{FF2B5EF4-FFF2-40B4-BE49-F238E27FC236}">
                <a16:creationId xmlns:a16="http://schemas.microsoft.com/office/drawing/2014/main" id="{733971C8-661A-4588-AE1E-D78A81344092}"/>
              </a:ext>
            </a:extLst>
          </p:cNvPr>
          <p:cNvSpPr>
            <a:spLocks noGrp="1"/>
          </p:cNvSpPr>
          <p:nvPr/>
        </p:nvSpPr>
        <p:spPr>
          <a:xfrm>
            <a:off x="9734550" y="3105150"/>
            <a:ext cx="1676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Store in pgvector</a:t>
            </a:r>
          </a:p>
        </p:txBody>
      </p:sp>
      <p:sp>
        <p:nvSpPr>
          <p:cNvPr id="14" name="source-title">
            <a:extLst>
              <a:ext uri="{FF2B5EF4-FFF2-40B4-BE49-F238E27FC236}">
                <a16:creationId xmlns:a16="http://schemas.microsoft.com/office/drawing/2014/main" id="{F87D44E0-7ED4-456C-9865-DB154530F17A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Configured official sources</a:t>
            </a:r>
          </a:p>
        </p:txBody>
      </p:sp>
      <p:sp>
        <p:nvSpPr>
          <p:cNvPr id="15" name="source-list">
            <a:extLst>
              <a:ext uri="{FF2B5EF4-FFF2-40B4-BE49-F238E27FC236}">
                <a16:creationId xmlns:a16="http://schemas.microsoft.com/office/drawing/2014/main" id="{E25D64F8-067F-4349-944E-7C0CD87DEE71}"/>
              </a:ext>
            </a:extLst>
          </p:cNvPr>
          <p:cNvSpPr>
            <a:spLocks noGrp="1"/>
          </p:cNvSpPr>
          <p:nvPr/>
        </p:nvSpPr>
        <p:spPr>
          <a:xfrm>
            <a:off x="666750" y="4629150"/>
            <a:ext cx="409575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Central Bank of Sri Lanka</a:t>
            </a:r>
          </a:p>
          <a:p>
            <a:pPr algn="l">
              <a:def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Board of Investment of Sri Lanka</a:t>
            </a:r>
          </a:p>
          <a:p>
            <a:pPr algn="l">
              <a:def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Department of Census and Statistics</a:t>
            </a:r>
          </a:p>
        </p:txBody>
      </p:sp>
      <p:sp>
        <p:nvSpPr>
          <p:cNvPr id="16" name="source-list-2">
            <a:extLst>
              <a:ext uri="{FF2B5EF4-FFF2-40B4-BE49-F238E27FC236}">
                <a16:creationId xmlns:a16="http://schemas.microsoft.com/office/drawing/2014/main" id="{C9C5ACFB-676C-45C5-8EF8-660B5706E0A5}"/>
              </a:ext>
            </a:extLst>
          </p:cNvPr>
          <p:cNvSpPr>
            <a:spLocks noGrp="1"/>
          </p:cNvSpPr>
          <p:nvPr/>
        </p:nvSpPr>
        <p:spPr>
          <a:xfrm>
            <a:off x="4914900" y="4629150"/>
            <a:ext cx="3810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Sri Lanka Export Development Board</a:t>
            </a:r>
          </a:p>
          <a:p>
            <a:pPr algn="l">
              <a:def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Department of Agriculture Sri Lanka</a:t>
            </a:r>
          </a:p>
        </p:txBody>
      </p:sp>
      <p:sp>
        <p:nvSpPr>
          <p:cNvPr id="17" name="metadata-title">
            <a:extLst>
              <a:ext uri="{FF2B5EF4-FFF2-40B4-BE49-F238E27FC236}">
                <a16:creationId xmlns:a16="http://schemas.microsoft.com/office/drawing/2014/main" id="{7EF30D03-34D4-4DC7-88E3-35956E1CCB52}"/>
              </a:ext>
            </a:extLst>
          </p:cNvPr>
          <p:cNvSpPr>
            <a:spLocks noGrp="1"/>
          </p:cNvSpPr>
          <p:nvPr/>
        </p:nvSpPr>
        <p:spPr>
          <a:xfrm>
            <a:off x="9048750" y="41719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Metadata retained</a:t>
            </a:r>
          </a:p>
        </p:txBody>
      </p:sp>
      <p:sp>
        <p:nvSpPr>
          <p:cNvPr id="18" name="metadata-list">
            <a:extLst>
              <a:ext uri="{FF2B5EF4-FFF2-40B4-BE49-F238E27FC236}">
                <a16:creationId xmlns:a16="http://schemas.microsoft.com/office/drawing/2014/main" id="{09CAD06C-E957-4B90-82DE-6787B2200467}"/>
              </a:ext>
            </a:extLst>
          </p:cNvPr>
          <p:cNvSpPr>
            <a:spLocks noGrp="1"/>
          </p:cNvSpPr>
          <p:nvPr/>
        </p:nvSpPr>
        <p:spPr>
          <a:xfrm>
            <a:off x="9048750" y="4629150"/>
            <a:ext cx="23812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Title, publisher, category, document type, publication date, sector and original URL</a:t>
            </a:r>
          </a:p>
        </p:txBody>
      </p:sp>
      <p:sp>
        <p:nvSpPr>
          <p:cNvPr id="19" name="footer-5">
            <a:extLst>
              <a:ext uri="{FF2B5EF4-FFF2-40B4-BE49-F238E27FC236}">
                <a16:creationId xmlns:a16="http://schemas.microsoft.com/office/drawing/2014/main" id="{7C30368A-2A3B-41D7-958A-4225F04FBDD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20" name="folio-5">
            <a:extLst>
              <a:ext uri="{FF2B5EF4-FFF2-40B4-BE49-F238E27FC236}">
                <a16:creationId xmlns:a16="http://schemas.microsoft.com/office/drawing/2014/main" id="{B221D0A9-F57B-431A-8BE5-7A3C6C402CB5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3143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-title">
            <a:extLst>
              <a:ext uri="{FF2B5EF4-FFF2-40B4-BE49-F238E27FC236}">
                <a16:creationId xmlns:a16="http://schemas.microsoft.com/office/drawing/2014/main" id="{E02D13EF-71FD-4338-A8D8-EA8FB7BD5A3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Retrieval-augmented generation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7F3C0E9A-800E-42F9-A033-09C6C66A979F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C7D5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7D5D0"/>
                </a:solidFill>
                <a:latin typeface="Helvetica Neue"/>
                <a:ea typeface="Helvetica Neue"/>
                <a:cs typeface="Helvetica Neue"/>
              </a:rPr>
              <a:t>The model receives selected evidence rather than the entire collection.</a:t>
            </a:r>
          </a:p>
        </p:txBody>
      </p:sp>
      <p:cxnSp>
        <p:nvCxnSpPr>
          <p:cNvPr id="39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49645F"/>
            </a:solidFill>
            <a:prstDash val="solid"/>
          </a:ln>
        </p:spPr>
      </p:cxnSp>
      <p:cxnSp>
        <p:nvCxnSpPr>
          <p:cNvPr id="40" name="rag-link-0"/>
          <p:cNvCxnSpPr/>
          <p:nvPr/>
        </p:nvCxnSpPr>
        <p:spPr>
          <a:xfrm>
            <a:off x="2095500" y="2971800"/>
            <a:ext cx="323850" cy="0"/>
          </a:xfrm>
          <a:prstGeom prst="straightConnector1">
            <a:avLst/>
          </a:prstGeom>
          <a:ln w="19050">
            <a:solidFill>
              <a:srgbClr val="D8A83E"/>
            </a:solidFill>
            <a:prstDash val="solid"/>
          </a:ln>
        </p:spPr>
      </p:cxnSp>
      <p:sp>
        <p:nvSpPr>
          <p:cNvPr id="5" name="rag-num-bg-0">
            <a:extLst>
              <a:ext uri="{FF2B5EF4-FFF2-40B4-BE49-F238E27FC236}">
                <a16:creationId xmlns:a16="http://schemas.microsoft.com/office/drawing/2014/main" id="{67FE28BE-F1DA-4E29-A858-139815156EAA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438150" cy="43815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6" name="rag-num-0">
            <a:extLst>
              <a:ext uri="{FF2B5EF4-FFF2-40B4-BE49-F238E27FC236}">
                <a16:creationId xmlns:a16="http://schemas.microsoft.com/office/drawing/2014/main" id="{D89730DC-B409-4663-A922-206A5B1BE6C1}"/>
              </a:ext>
            </a:extLst>
          </p:cNvPr>
          <p:cNvSpPr>
            <a:spLocks noGrp="1"/>
          </p:cNvSpPr>
          <p:nvPr/>
        </p:nvSpPr>
        <p:spPr>
          <a:xfrm>
            <a:off x="1047750" y="230505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ag-head-0">
            <a:extLst>
              <a:ext uri="{FF2B5EF4-FFF2-40B4-BE49-F238E27FC236}">
                <a16:creationId xmlns:a16="http://schemas.microsoft.com/office/drawing/2014/main" id="{5ED7C866-166E-405F-9026-3E0151CAA5D3}"/>
              </a:ext>
            </a:extLst>
          </p:cNvPr>
          <p:cNvSpPr>
            <a:spLocks noGrp="1"/>
          </p:cNvSpPr>
          <p:nvPr/>
        </p:nvSpPr>
        <p:spPr>
          <a:xfrm>
            <a:off x="476250" y="2838450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8" name="rag-body-0">
            <a:extLst>
              <a:ext uri="{FF2B5EF4-FFF2-40B4-BE49-F238E27FC236}">
                <a16:creationId xmlns:a16="http://schemas.microsoft.com/office/drawing/2014/main" id="{2008FA30-3DDC-47BC-9B11-2EFFCF863B6B}"/>
              </a:ext>
            </a:extLst>
          </p:cNvPr>
          <p:cNvSpPr>
            <a:spLocks noGrp="1"/>
          </p:cNvSpPr>
          <p:nvPr/>
        </p:nvSpPr>
        <p:spPr>
          <a:xfrm>
            <a:off x="476250" y="331470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rPr>
              <a:t>User intent</a:t>
            </a:r>
          </a:p>
        </p:txBody>
      </p:sp>
      <p:cxnSp>
        <p:nvCxnSpPr>
          <p:cNvPr id="45" name="rag-link-1"/>
          <p:cNvCxnSpPr/>
          <p:nvPr/>
        </p:nvCxnSpPr>
        <p:spPr>
          <a:xfrm>
            <a:off x="4029075" y="2971800"/>
            <a:ext cx="323850" cy="0"/>
          </a:xfrm>
          <a:prstGeom prst="straightConnector1">
            <a:avLst/>
          </a:prstGeom>
          <a:ln w="19050">
            <a:solidFill>
              <a:srgbClr val="D8A83E"/>
            </a:solidFill>
            <a:prstDash val="solid"/>
          </a:ln>
        </p:spPr>
      </p:cxnSp>
      <p:sp>
        <p:nvSpPr>
          <p:cNvPr id="10" name="rag-num-bg-1">
            <a:extLst>
              <a:ext uri="{FF2B5EF4-FFF2-40B4-BE49-F238E27FC236}">
                <a16:creationId xmlns:a16="http://schemas.microsoft.com/office/drawing/2014/main" id="{D1BDC319-7B93-4AF9-A505-4C50FD9E4B7C}"/>
              </a:ext>
            </a:extLst>
          </p:cNvPr>
          <p:cNvSpPr>
            <a:spLocks noGrp="1"/>
          </p:cNvSpPr>
          <p:nvPr/>
        </p:nvSpPr>
        <p:spPr>
          <a:xfrm>
            <a:off x="2981325" y="2190750"/>
            <a:ext cx="438150" cy="43815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11" name="rag-num-1">
            <a:extLst>
              <a:ext uri="{FF2B5EF4-FFF2-40B4-BE49-F238E27FC236}">
                <a16:creationId xmlns:a16="http://schemas.microsoft.com/office/drawing/2014/main" id="{135B00A7-5ABA-4686-A458-BF73EAA3D4B9}"/>
              </a:ext>
            </a:extLst>
          </p:cNvPr>
          <p:cNvSpPr>
            <a:spLocks noGrp="1"/>
          </p:cNvSpPr>
          <p:nvPr/>
        </p:nvSpPr>
        <p:spPr>
          <a:xfrm>
            <a:off x="2981325" y="230505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rag-head-1">
            <a:extLst>
              <a:ext uri="{FF2B5EF4-FFF2-40B4-BE49-F238E27FC236}">
                <a16:creationId xmlns:a16="http://schemas.microsoft.com/office/drawing/2014/main" id="{D91D7EF4-6EAD-46CA-A966-2FC3FAE282B3}"/>
              </a:ext>
            </a:extLst>
          </p:cNvPr>
          <p:cNvSpPr>
            <a:spLocks noGrp="1"/>
          </p:cNvSpPr>
          <p:nvPr/>
        </p:nvSpPr>
        <p:spPr>
          <a:xfrm>
            <a:off x="2409825" y="2838450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Vector search</a:t>
            </a:r>
          </a:p>
        </p:txBody>
      </p:sp>
      <p:sp>
        <p:nvSpPr>
          <p:cNvPr id="13" name="rag-body-1">
            <a:extLst>
              <a:ext uri="{FF2B5EF4-FFF2-40B4-BE49-F238E27FC236}">
                <a16:creationId xmlns:a16="http://schemas.microsoft.com/office/drawing/2014/main" id="{177C8EE9-594C-4631-A2D8-0EC5DCECB290}"/>
              </a:ext>
            </a:extLst>
          </p:cNvPr>
          <p:cNvSpPr>
            <a:spLocks noGrp="1"/>
          </p:cNvSpPr>
          <p:nvPr/>
        </p:nvSpPr>
        <p:spPr>
          <a:xfrm>
            <a:off x="2409825" y="331470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rPr>
              <a:t>20 candidates</a:t>
            </a:r>
          </a:p>
        </p:txBody>
      </p:sp>
      <p:cxnSp>
        <p:nvCxnSpPr>
          <p:cNvPr id="50" name="rag-link-2"/>
          <p:cNvCxnSpPr/>
          <p:nvPr/>
        </p:nvCxnSpPr>
        <p:spPr>
          <a:xfrm>
            <a:off x="5962650" y="2971800"/>
            <a:ext cx="323850" cy="0"/>
          </a:xfrm>
          <a:prstGeom prst="straightConnector1">
            <a:avLst/>
          </a:prstGeom>
          <a:ln w="19050">
            <a:solidFill>
              <a:srgbClr val="D8A83E"/>
            </a:solidFill>
            <a:prstDash val="solid"/>
          </a:ln>
        </p:spPr>
      </p:cxnSp>
      <p:sp>
        <p:nvSpPr>
          <p:cNvPr id="15" name="rag-num-bg-2">
            <a:extLst>
              <a:ext uri="{FF2B5EF4-FFF2-40B4-BE49-F238E27FC236}">
                <a16:creationId xmlns:a16="http://schemas.microsoft.com/office/drawing/2014/main" id="{D6380B58-7343-4859-B4CF-3160AB43C93F}"/>
              </a:ext>
            </a:extLst>
          </p:cNvPr>
          <p:cNvSpPr>
            <a:spLocks noGrp="1"/>
          </p:cNvSpPr>
          <p:nvPr/>
        </p:nvSpPr>
        <p:spPr>
          <a:xfrm>
            <a:off x="4914900" y="2190750"/>
            <a:ext cx="438150" cy="43815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16" name="rag-num-2">
            <a:extLst>
              <a:ext uri="{FF2B5EF4-FFF2-40B4-BE49-F238E27FC236}">
                <a16:creationId xmlns:a16="http://schemas.microsoft.com/office/drawing/2014/main" id="{FDC4CB09-3A25-4798-851C-3DD9EA335F2E}"/>
              </a:ext>
            </a:extLst>
          </p:cNvPr>
          <p:cNvSpPr>
            <a:spLocks noGrp="1"/>
          </p:cNvSpPr>
          <p:nvPr/>
        </p:nvSpPr>
        <p:spPr>
          <a:xfrm>
            <a:off x="4914900" y="230505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rag-head-2">
            <a:extLst>
              <a:ext uri="{FF2B5EF4-FFF2-40B4-BE49-F238E27FC236}">
                <a16:creationId xmlns:a16="http://schemas.microsoft.com/office/drawing/2014/main" id="{F5038104-859E-495B-8AA0-F1A4B08979D4}"/>
              </a:ext>
            </a:extLst>
          </p:cNvPr>
          <p:cNvSpPr>
            <a:spLocks noGrp="1"/>
          </p:cNvSpPr>
          <p:nvPr/>
        </p:nvSpPr>
        <p:spPr>
          <a:xfrm>
            <a:off x="4343400" y="2838450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Reranker</a:t>
            </a:r>
          </a:p>
        </p:txBody>
      </p:sp>
      <p:sp>
        <p:nvSpPr>
          <p:cNvPr id="18" name="rag-body-2">
            <a:extLst>
              <a:ext uri="{FF2B5EF4-FFF2-40B4-BE49-F238E27FC236}">
                <a16:creationId xmlns:a16="http://schemas.microsoft.com/office/drawing/2014/main" id="{00158DDA-0F75-4FF8-A440-4D8271EF08DA}"/>
              </a:ext>
            </a:extLst>
          </p:cNvPr>
          <p:cNvSpPr>
            <a:spLocks noGrp="1"/>
          </p:cNvSpPr>
          <p:nvPr/>
        </p:nvSpPr>
        <p:spPr>
          <a:xfrm>
            <a:off x="4343400" y="331470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rPr>
              <a:t>Top passages</a:t>
            </a:r>
          </a:p>
        </p:txBody>
      </p:sp>
      <p:cxnSp>
        <p:nvCxnSpPr>
          <p:cNvPr id="55" name="rag-link-3"/>
          <p:cNvCxnSpPr/>
          <p:nvPr/>
        </p:nvCxnSpPr>
        <p:spPr>
          <a:xfrm>
            <a:off x="7896225" y="2971800"/>
            <a:ext cx="323850" cy="0"/>
          </a:xfrm>
          <a:prstGeom prst="straightConnector1">
            <a:avLst/>
          </a:prstGeom>
          <a:ln w="19050">
            <a:solidFill>
              <a:srgbClr val="D8A83E"/>
            </a:solidFill>
            <a:prstDash val="solid"/>
          </a:ln>
        </p:spPr>
      </p:cxnSp>
      <p:sp>
        <p:nvSpPr>
          <p:cNvPr id="20" name="rag-num-bg-3">
            <a:extLst>
              <a:ext uri="{FF2B5EF4-FFF2-40B4-BE49-F238E27FC236}">
                <a16:creationId xmlns:a16="http://schemas.microsoft.com/office/drawing/2014/main" id="{DAC4F671-B6ED-4E17-8558-203A8F5B9499}"/>
              </a:ext>
            </a:extLst>
          </p:cNvPr>
          <p:cNvSpPr>
            <a:spLocks noGrp="1"/>
          </p:cNvSpPr>
          <p:nvPr/>
        </p:nvSpPr>
        <p:spPr>
          <a:xfrm>
            <a:off x="6848475" y="2190750"/>
            <a:ext cx="438150" cy="43815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21" name="rag-num-3">
            <a:extLst>
              <a:ext uri="{FF2B5EF4-FFF2-40B4-BE49-F238E27FC236}">
                <a16:creationId xmlns:a16="http://schemas.microsoft.com/office/drawing/2014/main" id="{E72A95C8-1AB5-4AFE-AE13-A62E03743EEB}"/>
              </a:ext>
            </a:extLst>
          </p:cNvPr>
          <p:cNvSpPr>
            <a:spLocks noGrp="1"/>
          </p:cNvSpPr>
          <p:nvPr/>
        </p:nvSpPr>
        <p:spPr>
          <a:xfrm>
            <a:off x="6848475" y="230505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rag-head-3">
            <a:extLst>
              <a:ext uri="{FF2B5EF4-FFF2-40B4-BE49-F238E27FC236}">
                <a16:creationId xmlns:a16="http://schemas.microsoft.com/office/drawing/2014/main" id="{35794445-EE10-440C-B5C5-728AF3480616}"/>
              </a:ext>
            </a:extLst>
          </p:cNvPr>
          <p:cNvSpPr>
            <a:spLocks noGrp="1"/>
          </p:cNvSpPr>
          <p:nvPr/>
        </p:nvSpPr>
        <p:spPr>
          <a:xfrm>
            <a:off x="6276975" y="2838450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23" name="rag-body-3">
            <a:extLst>
              <a:ext uri="{FF2B5EF4-FFF2-40B4-BE49-F238E27FC236}">
                <a16:creationId xmlns:a16="http://schemas.microsoft.com/office/drawing/2014/main" id="{81815B9A-970F-41C6-855C-2F147F9A0E1F}"/>
              </a:ext>
            </a:extLst>
          </p:cNvPr>
          <p:cNvSpPr>
            <a:spLocks noGrp="1"/>
          </p:cNvSpPr>
          <p:nvPr/>
        </p:nvSpPr>
        <p:spPr>
          <a:xfrm>
            <a:off x="6276975" y="331470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rPr>
              <a:t>Best 3 chunks</a:t>
            </a:r>
          </a:p>
        </p:txBody>
      </p:sp>
      <p:cxnSp>
        <p:nvCxnSpPr>
          <p:cNvPr id="60" name="rag-link-4"/>
          <p:cNvCxnSpPr/>
          <p:nvPr/>
        </p:nvCxnSpPr>
        <p:spPr>
          <a:xfrm>
            <a:off x="9829800" y="2971800"/>
            <a:ext cx="323850" cy="0"/>
          </a:xfrm>
          <a:prstGeom prst="straightConnector1">
            <a:avLst/>
          </a:prstGeom>
          <a:ln w="19050">
            <a:solidFill>
              <a:srgbClr val="D8A83E"/>
            </a:solidFill>
            <a:prstDash val="solid"/>
          </a:ln>
        </p:spPr>
      </p:cxnSp>
      <p:sp>
        <p:nvSpPr>
          <p:cNvPr id="25" name="rag-num-bg-4">
            <a:extLst>
              <a:ext uri="{FF2B5EF4-FFF2-40B4-BE49-F238E27FC236}">
                <a16:creationId xmlns:a16="http://schemas.microsoft.com/office/drawing/2014/main" id="{8C8B753F-3EBE-472F-846E-5A17AABADC35}"/>
              </a:ext>
            </a:extLst>
          </p:cNvPr>
          <p:cNvSpPr>
            <a:spLocks noGrp="1"/>
          </p:cNvSpPr>
          <p:nvPr/>
        </p:nvSpPr>
        <p:spPr>
          <a:xfrm>
            <a:off x="8782050" y="2190750"/>
            <a:ext cx="438150" cy="43815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26" name="rag-num-4">
            <a:extLst>
              <a:ext uri="{FF2B5EF4-FFF2-40B4-BE49-F238E27FC236}">
                <a16:creationId xmlns:a16="http://schemas.microsoft.com/office/drawing/2014/main" id="{3835CB5C-56B4-4677-A9DF-8C28CA1FEA3D}"/>
              </a:ext>
            </a:extLst>
          </p:cNvPr>
          <p:cNvSpPr>
            <a:spLocks noGrp="1"/>
          </p:cNvSpPr>
          <p:nvPr/>
        </p:nvSpPr>
        <p:spPr>
          <a:xfrm>
            <a:off x="8782050" y="230505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rag-head-4">
            <a:extLst>
              <a:ext uri="{FF2B5EF4-FFF2-40B4-BE49-F238E27FC236}">
                <a16:creationId xmlns:a16="http://schemas.microsoft.com/office/drawing/2014/main" id="{60C9DA2D-5CAC-4F35-BF87-BB52525FFDD0}"/>
              </a:ext>
            </a:extLst>
          </p:cNvPr>
          <p:cNvSpPr>
            <a:spLocks noGrp="1"/>
          </p:cNvSpPr>
          <p:nvPr/>
        </p:nvSpPr>
        <p:spPr>
          <a:xfrm>
            <a:off x="8210550" y="2838450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28" name="rag-body-4">
            <a:extLst>
              <a:ext uri="{FF2B5EF4-FFF2-40B4-BE49-F238E27FC236}">
                <a16:creationId xmlns:a16="http://schemas.microsoft.com/office/drawing/2014/main" id="{7A10B437-8F14-41E0-B96E-12F6BEF28095}"/>
              </a:ext>
            </a:extLst>
          </p:cNvPr>
          <p:cNvSpPr>
            <a:spLocks noGrp="1"/>
          </p:cNvSpPr>
          <p:nvPr/>
        </p:nvSpPr>
        <p:spPr>
          <a:xfrm>
            <a:off x="8210550" y="331470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rPr>
              <a:t>Grounded response</a:t>
            </a:r>
          </a:p>
        </p:txBody>
      </p:sp>
      <p:sp>
        <p:nvSpPr>
          <p:cNvPr id="29" name="rag-num-bg-5">
            <a:extLst>
              <a:ext uri="{FF2B5EF4-FFF2-40B4-BE49-F238E27FC236}">
                <a16:creationId xmlns:a16="http://schemas.microsoft.com/office/drawing/2014/main" id="{6E30AE7D-4F73-497C-822C-E61BA78E493B}"/>
              </a:ext>
            </a:extLst>
          </p:cNvPr>
          <p:cNvSpPr>
            <a:spLocks noGrp="1"/>
          </p:cNvSpPr>
          <p:nvPr/>
        </p:nvSpPr>
        <p:spPr>
          <a:xfrm>
            <a:off x="10715625" y="2190750"/>
            <a:ext cx="438150" cy="438150"/>
          </a:xfrm>
          <a:prstGeom prst="ellipse">
            <a:avLst/>
          </a:prstGeom>
          <a:solidFill>
            <a:srgbClr val="D8A83E"/>
          </a:solidFill>
          <a:ln w="0">
            <a:noFill/>
            <a:prstDash val="solid"/>
          </a:ln>
        </p:spPr>
      </p:sp>
      <p:sp>
        <p:nvSpPr>
          <p:cNvPr id="30" name="rag-num-5">
            <a:extLst>
              <a:ext uri="{FF2B5EF4-FFF2-40B4-BE49-F238E27FC236}">
                <a16:creationId xmlns:a16="http://schemas.microsoft.com/office/drawing/2014/main" id="{B0C9947F-4972-47D2-B8E0-E3846A3B691B}"/>
              </a:ext>
            </a:extLst>
          </p:cNvPr>
          <p:cNvSpPr>
            <a:spLocks noGrp="1"/>
          </p:cNvSpPr>
          <p:nvPr/>
        </p:nvSpPr>
        <p:spPr>
          <a:xfrm>
            <a:off x="10715625" y="230505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1" name="rag-head-5">
            <a:extLst>
              <a:ext uri="{FF2B5EF4-FFF2-40B4-BE49-F238E27FC236}">
                <a16:creationId xmlns:a16="http://schemas.microsoft.com/office/drawing/2014/main" id="{65A2A338-91AF-4BB5-8C7F-453D7E032096}"/>
              </a:ext>
            </a:extLst>
          </p:cNvPr>
          <p:cNvSpPr>
            <a:spLocks noGrp="1"/>
          </p:cNvSpPr>
          <p:nvPr/>
        </p:nvSpPr>
        <p:spPr>
          <a:xfrm>
            <a:off x="10144125" y="2838450"/>
            <a:ext cx="1600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2" name="rag-body-5">
            <a:extLst>
              <a:ext uri="{FF2B5EF4-FFF2-40B4-BE49-F238E27FC236}">
                <a16:creationId xmlns:a16="http://schemas.microsoft.com/office/drawing/2014/main" id="{E89EEEF2-2317-460E-BCA2-6FBAC4C5F32E}"/>
              </a:ext>
            </a:extLst>
          </p:cNvPr>
          <p:cNvSpPr>
            <a:spLocks noGrp="1"/>
          </p:cNvSpPr>
          <p:nvPr/>
        </p:nvSpPr>
        <p:spPr>
          <a:xfrm>
            <a:off x="10144125" y="3314700"/>
            <a:ext cx="1600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AFC2BC"/>
                </a:solidFill>
                <a:latin typeface="Helvetica Neue"/>
                <a:ea typeface="Helvetica Neue"/>
                <a:cs typeface="Helvetica Neue"/>
              </a:rPr>
              <a:t>Links + scores</a:t>
            </a:r>
          </a:p>
        </p:txBody>
      </p:sp>
      <p:sp>
        <p:nvSpPr>
          <p:cNvPr id="33" name="rag-rule-title">
            <a:extLst>
              <a:ext uri="{FF2B5EF4-FFF2-40B4-BE49-F238E27FC236}">
                <a16:creationId xmlns:a16="http://schemas.microsoft.com/office/drawing/2014/main" id="{17D13148-EDDF-4A5E-9D79-0FF910B95CD0}"/>
              </a:ext>
            </a:extLst>
          </p:cNvPr>
          <p:cNvSpPr>
            <a:spLocks noGrp="1"/>
          </p:cNvSpPr>
          <p:nvPr/>
        </p:nvSpPr>
        <p:spPr>
          <a:xfrm>
            <a:off x="704850" y="44386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Grounding rule</a:t>
            </a:r>
          </a:p>
        </p:txBody>
      </p:sp>
      <p:sp>
        <p:nvSpPr>
          <p:cNvPr id="34" name="rag-rule">
            <a:extLst>
              <a:ext uri="{FF2B5EF4-FFF2-40B4-BE49-F238E27FC236}">
                <a16:creationId xmlns:a16="http://schemas.microsoft.com/office/drawing/2014/main" id="{57141E1C-5A75-40FF-AFCC-5BCA831FD99C}"/>
              </a:ext>
            </a:extLst>
          </p:cNvPr>
          <p:cNvSpPr>
            <a:spLocks noGrp="1"/>
          </p:cNvSpPr>
          <p:nvPr/>
        </p:nvSpPr>
        <p:spPr>
          <a:xfrm>
            <a:off x="704850" y="49149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answer should use retrieved context, acknowledge missing evidence, and return the supporting documents to the interface.</a:t>
            </a:r>
          </a:p>
        </p:txBody>
      </p:sp>
      <p:sp>
        <p:nvSpPr>
          <p:cNvPr id="35" name="footer-6">
            <a:extLst>
              <a:ext uri="{FF2B5EF4-FFF2-40B4-BE49-F238E27FC236}">
                <a16:creationId xmlns:a16="http://schemas.microsoft.com/office/drawing/2014/main" id="{F1EAE51F-1D9C-4DF4-9B91-069694B61E5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36" name="folio-6">
            <a:extLst>
              <a:ext uri="{FF2B5EF4-FFF2-40B4-BE49-F238E27FC236}">
                <a16:creationId xmlns:a16="http://schemas.microsoft.com/office/drawing/2014/main" id="{D901BCD3-149D-468A-BC65-CFD97984E246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0049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394C2F85-8F3D-4D40-80B2-DC89C2C098D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Agent routing and conversational memory</a:t>
            </a:r>
          </a:p>
        </p:txBody>
      </p:sp>
      <p:cxnSp>
        <p:nvCxnSpPr>
          <p:cNvPr id="25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cxnSp>
        <p:nvCxnSpPr>
          <p:cNvPr id="26" name="agent-input"/>
          <p:cNvCxnSpPr/>
          <p:nvPr/>
        </p:nvCxnSpPr>
        <p:spPr>
          <a:xfrm>
            <a:off x="1981200" y="3009900"/>
            <a:ext cx="952500" cy="0"/>
          </a:xfrm>
          <a:prstGeom prst="straightConnector1">
            <a:avLst/>
          </a:prstGeom>
          <a:ln w="28575">
            <a:solidFill>
              <a:srgbClr val="D8A83E"/>
            </a:solidFill>
            <a:prstDash val="solid"/>
          </a:ln>
        </p:spPr>
      </p:cxnSp>
      <p:cxnSp>
        <p:nvCxnSpPr>
          <p:cNvPr id="27" name="agent-up"/>
          <p:cNvCxnSpPr>
            <a:cxnSpLocks/>
            <a:endCxn id="10" idx="1"/>
          </p:cNvCxnSpPr>
          <p:nvPr/>
        </p:nvCxnSpPr>
        <p:spPr>
          <a:xfrm flipV="1">
            <a:off x="4972050" y="1885950"/>
            <a:ext cx="1428750" cy="981003"/>
          </a:xfrm>
          <a:prstGeom prst="straightConnector1">
            <a:avLst/>
          </a:prstGeom>
          <a:ln w="19050">
            <a:solidFill>
              <a:srgbClr val="1F5B4F"/>
            </a:solidFill>
            <a:prstDash val="solid"/>
          </a:ln>
        </p:spPr>
      </p:cxnSp>
      <p:cxnSp>
        <p:nvCxnSpPr>
          <p:cNvPr id="28" name="agent-down"/>
          <p:cNvCxnSpPr/>
          <p:nvPr/>
        </p:nvCxnSpPr>
        <p:spPr>
          <a:xfrm>
            <a:off x="4972050" y="3238500"/>
            <a:ext cx="1428750" cy="952500"/>
          </a:xfrm>
          <a:prstGeom prst="straightConnector1">
            <a:avLst/>
          </a:prstGeom>
          <a:ln w="19050">
            <a:solidFill>
              <a:srgbClr val="1F5B4F"/>
            </a:solidFill>
            <a:prstDash val="solid"/>
          </a:ln>
        </p:spPr>
      </p:cxnSp>
      <p:sp>
        <p:nvSpPr>
          <p:cNvPr id="6" name="agent-question-box">
            <a:extLst>
              <a:ext uri="{FF2B5EF4-FFF2-40B4-BE49-F238E27FC236}">
                <a16:creationId xmlns:a16="http://schemas.microsoft.com/office/drawing/2014/main" id="{A3E9E726-67D6-453F-8EDA-FE72F9DF260F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3716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4D0C5"/>
            </a:solidFill>
            <a:prstDash val="solid"/>
          </a:ln>
        </p:spPr>
      </p:sp>
      <p:sp>
        <p:nvSpPr>
          <p:cNvPr id="7" name="agent-question-text">
            <a:extLst>
              <a:ext uri="{FF2B5EF4-FFF2-40B4-BE49-F238E27FC236}">
                <a16:creationId xmlns:a16="http://schemas.microsoft.com/office/drawing/2014/main" id="{B9E35987-3671-4A80-8F33-195916164F25}"/>
              </a:ext>
            </a:extLst>
          </p:cNvPr>
          <p:cNvSpPr>
            <a:spLocks noGrp="1"/>
          </p:cNvSpPr>
          <p:nvPr/>
        </p:nvSpPr>
        <p:spPr>
          <a:xfrm>
            <a:off x="704850" y="2695575"/>
            <a:ext cx="11811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Question +</a:t>
            </a:r>
          </a:p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conversation ID</a:t>
            </a:r>
          </a:p>
        </p:txBody>
      </p:sp>
      <p:sp>
        <p:nvSpPr>
          <p:cNvPr id="8" name="agent-router-box">
            <a:extLst>
              <a:ext uri="{FF2B5EF4-FFF2-40B4-BE49-F238E27FC236}">
                <a16:creationId xmlns:a16="http://schemas.microsoft.com/office/drawing/2014/main" id="{8F2BA969-5635-470B-9378-453122F0E678}"/>
              </a:ext>
            </a:extLst>
          </p:cNvPr>
          <p:cNvSpPr>
            <a:spLocks noGrp="1"/>
          </p:cNvSpPr>
          <p:nvPr/>
        </p:nvSpPr>
        <p:spPr>
          <a:xfrm>
            <a:off x="2933700" y="2457450"/>
            <a:ext cx="2038350" cy="1123950"/>
          </a:xfrm>
          <a:prstGeom prst="roundRect">
            <a:avLst>
              <a:gd name="adj" fmla="val 6780"/>
            </a:avLst>
          </a:prstGeom>
          <a:solidFill>
            <a:srgbClr val="1F5B4F"/>
          </a:solidFill>
          <a:ln w="9525">
            <a:solidFill>
              <a:srgbClr val="1F5B4F"/>
            </a:solidFill>
            <a:prstDash val="solid"/>
          </a:ln>
        </p:spPr>
      </p:sp>
      <p:sp>
        <p:nvSpPr>
          <p:cNvPr id="9" name="agent-router-text">
            <a:extLst>
              <a:ext uri="{FF2B5EF4-FFF2-40B4-BE49-F238E27FC236}">
                <a16:creationId xmlns:a16="http://schemas.microsoft.com/office/drawing/2014/main" id="{0A983019-DD61-4182-9DDC-8318A40152D3}"/>
              </a:ext>
            </a:extLst>
          </p:cNvPr>
          <p:cNvSpPr>
            <a:spLocks noGrp="1"/>
          </p:cNvSpPr>
          <p:nvPr/>
        </p:nvSpPr>
        <p:spPr>
          <a:xfrm>
            <a:off x="3028950" y="2581275"/>
            <a:ext cx="184785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LLM chooses</a:t>
            </a:r>
          </a:p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appropriate tool</a:t>
            </a:r>
          </a:p>
        </p:txBody>
      </p:sp>
      <p:sp>
        <p:nvSpPr>
          <p:cNvPr id="10" name="agent-search-box">
            <a:extLst>
              <a:ext uri="{FF2B5EF4-FFF2-40B4-BE49-F238E27FC236}">
                <a16:creationId xmlns:a16="http://schemas.microsoft.com/office/drawing/2014/main" id="{E2D450B9-F9CF-4C01-8466-66CC371EC2CD}"/>
              </a:ext>
            </a:extLst>
          </p:cNvPr>
          <p:cNvSpPr>
            <a:spLocks noGrp="1"/>
          </p:cNvSpPr>
          <p:nvPr/>
        </p:nvSpPr>
        <p:spPr>
          <a:xfrm>
            <a:off x="6400800" y="1390650"/>
            <a:ext cx="20955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0C5"/>
            </a:solidFill>
            <a:prstDash val="solid"/>
          </a:ln>
        </p:spPr>
      </p:sp>
      <p:sp>
        <p:nvSpPr>
          <p:cNvPr id="11" name="agent-search-text">
            <a:extLst>
              <a:ext uri="{FF2B5EF4-FFF2-40B4-BE49-F238E27FC236}">
                <a16:creationId xmlns:a16="http://schemas.microsoft.com/office/drawing/2014/main" id="{2B9732A6-7A71-432F-9D6F-4C1379C71DC6}"/>
              </a:ext>
            </a:extLst>
          </p:cNvPr>
          <p:cNvSpPr>
            <a:spLocks noGrp="1"/>
          </p:cNvSpPr>
          <p:nvPr/>
        </p:nvSpPr>
        <p:spPr>
          <a:xfrm>
            <a:off x="6496050" y="1514475"/>
            <a:ext cx="1905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Knowledge Search</a:t>
            </a:r>
          </a:p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Factual questions</a:t>
            </a:r>
          </a:p>
        </p:txBody>
      </p:sp>
      <p:sp>
        <p:nvSpPr>
          <p:cNvPr id="12" name="agent-advice-box">
            <a:extLst>
              <a:ext uri="{FF2B5EF4-FFF2-40B4-BE49-F238E27FC236}">
                <a16:creationId xmlns:a16="http://schemas.microsoft.com/office/drawing/2014/main" id="{6D9E84DF-9E44-4E47-A998-2C0A37AB5CD4}"/>
              </a:ext>
            </a:extLst>
          </p:cNvPr>
          <p:cNvSpPr>
            <a:spLocks noGrp="1"/>
          </p:cNvSpPr>
          <p:nvPr/>
        </p:nvSpPr>
        <p:spPr>
          <a:xfrm>
            <a:off x="6400800" y="3714750"/>
            <a:ext cx="2095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4D0C5"/>
            </a:solidFill>
            <a:prstDash val="solid"/>
          </a:ln>
        </p:spPr>
      </p:sp>
      <p:sp>
        <p:nvSpPr>
          <p:cNvPr id="13" name="agent-advice-text">
            <a:extLst>
              <a:ext uri="{FF2B5EF4-FFF2-40B4-BE49-F238E27FC236}">
                <a16:creationId xmlns:a16="http://schemas.microsoft.com/office/drawing/2014/main" id="{0FD2DF81-6202-4B05-AC0D-A589F6D41436}"/>
              </a:ext>
            </a:extLst>
          </p:cNvPr>
          <p:cNvSpPr>
            <a:spLocks noGrp="1"/>
          </p:cNvSpPr>
          <p:nvPr/>
        </p:nvSpPr>
        <p:spPr>
          <a:xfrm>
            <a:off x="6496050" y="3838575"/>
            <a:ext cx="1905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Business Advisor</a:t>
            </a:r>
          </a:p>
          <a:p>
            <a:pPr algn="ctr">
              <a:def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Recommendations or land report</a:t>
            </a:r>
          </a:p>
        </p:txBody>
      </p:sp>
      <p:cxnSp>
        <p:nvCxnSpPr>
          <p:cNvPr id="37" name="agent-search-out"/>
          <p:cNvCxnSpPr>
            <a:cxnSpLocks/>
          </p:cNvCxnSpPr>
          <p:nvPr/>
        </p:nvCxnSpPr>
        <p:spPr>
          <a:xfrm>
            <a:off x="8496300" y="1885950"/>
            <a:ext cx="1149145" cy="571500"/>
          </a:xfrm>
          <a:prstGeom prst="straightConnector1">
            <a:avLst/>
          </a:prstGeom>
          <a:ln w="19050">
            <a:solidFill>
              <a:srgbClr val="D8A83E"/>
            </a:solidFill>
            <a:prstDash val="solid"/>
          </a:ln>
        </p:spPr>
      </p:cxnSp>
      <p:cxnSp>
        <p:nvCxnSpPr>
          <p:cNvPr id="38" name="agent-advice-out"/>
          <p:cNvCxnSpPr>
            <a:cxnSpLocks/>
          </p:cNvCxnSpPr>
          <p:nvPr/>
        </p:nvCxnSpPr>
        <p:spPr>
          <a:xfrm flipV="1">
            <a:off x="8496300" y="3514725"/>
            <a:ext cx="1149145" cy="733425"/>
          </a:xfrm>
          <a:prstGeom prst="straightConnector1">
            <a:avLst/>
          </a:prstGeom>
          <a:ln w="19050">
            <a:solidFill>
              <a:srgbClr val="D8A83E"/>
            </a:solidFill>
            <a:prstDash val="solid"/>
          </a:ln>
        </p:spPr>
      </p:cxnSp>
      <p:sp>
        <p:nvSpPr>
          <p:cNvPr id="16" name="agent-answer-box">
            <a:extLst>
              <a:ext uri="{FF2B5EF4-FFF2-40B4-BE49-F238E27FC236}">
                <a16:creationId xmlns:a16="http://schemas.microsoft.com/office/drawing/2014/main" id="{358BB1F5-14CE-41D2-8395-00B605D32F8B}"/>
              </a:ext>
            </a:extLst>
          </p:cNvPr>
          <p:cNvSpPr>
            <a:spLocks noGrp="1"/>
          </p:cNvSpPr>
          <p:nvPr/>
        </p:nvSpPr>
        <p:spPr>
          <a:xfrm>
            <a:off x="9810750" y="2571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203B39"/>
          </a:solidFill>
          <a:ln w="9525">
            <a:solidFill>
              <a:srgbClr val="203B39"/>
            </a:solidFill>
            <a:prstDash val="solid"/>
          </a:ln>
        </p:spPr>
      </p:sp>
      <p:sp>
        <p:nvSpPr>
          <p:cNvPr id="17" name="agent-answer-text">
            <a:extLst>
              <a:ext uri="{FF2B5EF4-FFF2-40B4-BE49-F238E27FC236}">
                <a16:creationId xmlns:a16="http://schemas.microsoft.com/office/drawing/2014/main" id="{443D6EEB-9E54-407C-9E32-09DB4E35F0BB}"/>
              </a:ext>
            </a:extLst>
          </p:cNvPr>
          <p:cNvSpPr>
            <a:spLocks noGrp="1"/>
          </p:cNvSpPr>
          <p:nvPr/>
        </p:nvSpPr>
        <p:spPr>
          <a:xfrm>
            <a:off x="9906000" y="2695575"/>
            <a:ext cx="15240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+ sources</a:t>
            </a:r>
          </a:p>
        </p:txBody>
      </p:sp>
      <p:sp>
        <p:nvSpPr>
          <p:cNvPr id="18" name="agent-memory-title">
            <a:extLst>
              <a:ext uri="{FF2B5EF4-FFF2-40B4-BE49-F238E27FC236}">
                <a16:creationId xmlns:a16="http://schemas.microsoft.com/office/drawing/2014/main" id="{AC3D1DC9-6903-4645-8D83-79EFE1644D0E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</p:txBody>
      </p:sp>
      <p:sp>
        <p:nvSpPr>
          <p:cNvPr id="19" name="agent-memory">
            <a:extLst>
              <a:ext uri="{FF2B5EF4-FFF2-40B4-BE49-F238E27FC236}">
                <a16:creationId xmlns:a16="http://schemas.microsoft.com/office/drawing/2014/main" id="{31792EAD-57AD-4F63-A50E-051167E6E625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4000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Previous messages contextualize follow-up questions before routing.</a:t>
            </a:r>
          </a:p>
        </p:txBody>
      </p:sp>
      <p:sp>
        <p:nvSpPr>
          <p:cNvPr id="20" name="agent-proof-title">
            <a:extLst>
              <a:ext uri="{FF2B5EF4-FFF2-40B4-BE49-F238E27FC236}">
                <a16:creationId xmlns:a16="http://schemas.microsoft.com/office/drawing/2014/main" id="{E46ECA6F-415C-4CDE-AA67-5A7CAF0A4DDC}"/>
              </a:ext>
            </a:extLst>
          </p:cNvPr>
          <p:cNvSpPr>
            <a:spLocks noGrp="1"/>
          </p:cNvSpPr>
          <p:nvPr/>
        </p:nvSpPr>
        <p:spPr>
          <a:xfrm>
            <a:off x="6400800" y="52197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Why this qualifies as agentic</a:t>
            </a:r>
          </a:p>
        </p:txBody>
      </p:sp>
      <p:sp>
        <p:nvSpPr>
          <p:cNvPr id="21" name="agent-proof">
            <a:extLst>
              <a:ext uri="{FF2B5EF4-FFF2-40B4-BE49-F238E27FC236}">
                <a16:creationId xmlns:a16="http://schemas.microsoft.com/office/drawing/2014/main" id="{0AA942E8-903A-4999-B32A-C89EA1967D23}"/>
              </a:ext>
            </a:extLst>
          </p:cNvPr>
          <p:cNvSpPr>
            <a:spLocks noGrp="1"/>
          </p:cNvSpPr>
          <p:nvPr/>
        </p:nvSpPr>
        <p:spPr>
          <a:xfrm>
            <a:off x="6400800" y="5619750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model selects a tool at runtime and records its reason. The path is not a fixed pipeline.</a:t>
            </a:r>
          </a:p>
        </p:txBody>
      </p:sp>
      <p:sp>
        <p:nvSpPr>
          <p:cNvPr id="22" name="footer-7">
            <a:extLst>
              <a:ext uri="{FF2B5EF4-FFF2-40B4-BE49-F238E27FC236}">
                <a16:creationId xmlns:a16="http://schemas.microsoft.com/office/drawing/2014/main" id="{E1E0F470-90B2-412A-8CD8-B66DF4BBD955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23" name="folio-7">
            <a:extLst>
              <a:ext uri="{FF2B5EF4-FFF2-40B4-BE49-F238E27FC236}">
                <a16:creationId xmlns:a16="http://schemas.microsoft.com/office/drawing/2014/main" id="{E321DF0D-833E-49DA-BFAF-826631CB4426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5796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BB676D61-AA8B-4ED8-BF07-3708AC122BA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Multimodal Land Intelligence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085C4AC-2EA3-4811-8ED6-B380C9FD316B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image itself contributes evidence to the analysis.</a:t>
            </a:r>
          </a:p>
        </p:txBody>
      </p:sp>
      <p:cxnSp>
        <p:nvCxnSpPr>
          <p:cNvPr id="25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4" name="land-image-bg">
            <a:extLst>
              <a:ext uri="{FF2B5EF4-FFF2-40B4-BE49-F238E27FC236}">
                <a16:creationId xmlns:a16="http://schemas.microsoft.com/office/drawing/2014/main" id="{7E5AB15B-C78E-4D59-BAFF-5A1479B316E1}"/>
              </a:ext>
            </a:extLst>
          </p:cNvPr>
          <p:cNvSpPr>
            <a:spLocks noGrp="1"/>
          </p:cNvSpPr>
          <p:nvPr/>
        </p:nvSpPr>
        <p:spPr>
          <a:xfrm>
            <a:off x="7239000" y="1562100"/>
            <a:ext cx="4095750" cy="4476750"/>
          </a:xfrm>
          <a:prstGeom prst="roundRect">
            <a:avLst>
              <a:gd name="adj" fmla="val 1860"/>
            </a:avLst>
          </a:prstGeom>
          <a:solidFill>
            <a:srgbClr val="EEE9DC"/>
          </a:solidFill>
          <a:ln w="9525">
            <a:solidFill>
              <a:srgbClr val="D4D0C5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57051" y="1714500"/>
            <a:ext cx="3059647" cy="4171950"/>
          </a:xfrm>
          <a:prstGeom prst="rect">
            <a:avLst/>
          </a:prstGeom>
        </p:spPr>
      </p:pic>
      <p:sp>
        <p:nvSpPr>
          <p:cNvPr id="6" name="land-n-0">
            <a:extLst>
              <a:ext uri="{FF2B5EF4-FFF2-40B4-BE49-F238E27FC236}">
                <a16:creationId xmlns:a16="http://schemas.microsoft.com/office/drawing/2014/main" id="{31B5C5A1-6029-4062-93C0-C35BDF2712DE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land-label-0">
            <a:extLst>
              <a:ext uri="{FF2B5EF4-FFF2-40B4-BE49-F238E27FC236}">
                <a16:creationId xmlns:a16="http://schemas.microsoft.com/office/drawing/2014/main" id="{53E8619D-AC77-41FE-A41A-4C371DCA48F5}"/>
              </a:ext>
            </a:extLst>
          </p:cNvPr>
          <p:cNvSpPr>
            <a:spLocks noGrp="1"/>
          </p:cNvSpPr>
          <p:nvPr/>
        </p:nvSpPr>
        <p:spPr>
          <a:xfrm>
            <a:off x="1314450" y="1714500"/>
            <a:ext cx="5238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Parse the PDF or image</a:t>
            </a:r>
          </a:p>
        </p:txBody>
      </p:sp>
      <p:cxnSp>
        <p:nvCxnSpPr>
          <p:cNvPr id="30" name="land-sep-0"/>
          <p:cNvCxnSpPr/>
          <p:nvPr/>
        </p:nvCxnSpPr>
        <p:spPr>
          <a:xfrm>
            <a:off x="1314450" y="2324100"/>
            <a:ext cx="49530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9" name="land-n-1">
            <a:extLst>
              <a:ext uri="{FF2B5EF4-FFF2-40B4-BE49-F238E27FC236}">
                <a16:creationId xmlns:a16="http://schemas.microsoft.com/office/drawing/2014/main" id="{AB743352-1592-4B19-B93A-D83CA057991E}"/>
              </a:ext>
            </a:extLst>
          </p:cNvPr>
          <p:cNvSpPr>
            <a:spLocks noGrp="1"/>
          </p:cNvSpPr>
          <p:nvPr/>
        </p:nvSpPr>
        <p:spPr>
          <a:xfrm>
            <a:off x="628650" y="25336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land-label-1">
            <a:extLst>
              <a:ext uri="{FF2B5EF4-FFF2-40B4-BE49-F238E27FC236}">
                <a16:creationId xmlns:a16="http://schemas.microsoft.com/office/drawing/2014/main" id="{5D8C5045-6916-4945-AB49-81374D5B7859}"/>
              </a:ext>
            </a:extLst>
          </p:cNvPr>
          <p:cNvSpPr>
            <a:spLocks noGrp="1"/>
          </p:cNvSpPr>
          <p:nvPr/>
        </p:nvSpPr>
        <p:spPr>
          <a:xfrm>
            <a:off x="1314450" y="2533650"/>
            <a:ext cx="5238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Extract boundaries, area, roads and location clues</a:t>
            </a:r>
          </a:p>
        </p:txBody>
      </p:sp>
      <p:cxnSp>
        <p:nvCxnSpPr>
          <p:cNvPr id="33" name="land-sep-1"/>
          <p:cNvCxnSpPr/>
          <p:nvPr/>
        </p:nvCxnSpPr>
        <p:spPr>
          <a:xfrm>
            <a:off x="1314450" y="3143250"/>
            <a:ext cx="49530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12" name="land-n-2">
            <a:extLst>
              <a:ext uri="{FF2B5EF4-FFF2-40B4-BE49-F238E27FC236}">
                <a16:creationId xmlns:a16="http://schemas.microsoft.com/office/drawing/2014/main" id="{4337C349-C9A9-4ECE-95D6-0CA1EB3473B2}"/>
              </a:ext>
            </a:extLst>
          </p:cNvPr>
          <p:cNvSpPr>
            <a:spLocks noGrp="1"/>
          </p:cNvSpPr>
          <p:nvPr/>
        </p:nvSpPr>
        <p:spPr>
          <a:xfrm>
            <a:off x="628650" y="33528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land-label-2">
            <a:extLst>
              <a:ext uri="{FF2B5EF4-FFF2-40B4-BE49-F238E27FC236}">
                <a16:creationId xmlns:a16="http://schemas.microsoft.com/office/drawing/2014/main" id="{3D7708EF-5792-4B71-87A0-A73FA5D0A75C}"/>
              </a:ext>
            </a:extLst>
          </p:cNvPr>
          <p:cNvSpPr>
            <a:spLocks noGrp="1"/>
          </p:cNvSpPr>
          <p:nvPr/>
        </p:nvSpPr>
        <p:spPr>
          <a:xfrm>
            <a:off x="1314450" y="3352800"/>
            <a:ext cx="5238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Normalize and geocode the location</a:t>
            </a:r>
          </a:p>
        </p:txBody>
      </p:sp>
      <p:cxnSp>
        <p:nvCxnSpPr>
          <p:cNvPr id="36" name="land-sep-2"/>
          <p:cNvCxnSpPr/>
          <p:nvPr/>
        </p:nvCxnSpPr>
        <p:spPr>
          <a:xfrm>
            <a:off x="1314450" y="3962400"/>
            <a:ext cx="49530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15" name="land-n-3">
            <a:extLst>
              <a:ext uri="{FF2B5EF4-FFF2-40B4-BE49-F238E27FC236}">
                <a16:creationId xmlns:a16="http://schemas.microsoft.com/office/drawing/2014/main" id="{F44ECE58-F09D-4692-BC3D-CDB9D8130B65}"/>
              </a:ext>
            </a:extLst>
          </p:cNvPr>
          <p:cNvSpPr>
            <a:spLocks noGrp="1"/>
          </p:cNvSpPr>
          <p:nvPr/>
        </p:nvSpPr>
        <p:spPr>
          <a:xfrm>
            <a:off x="628650" y="41719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land-label-3">
            <a:extLst>
              <a:ext uri="{FF2B5EF4-FFF2-40B4-BE49-F238E27FC236}">
                <a16:creationId xmlns:a16="http://schemas.microsoft.com/office/drawing/2014/main" id="{A15BBCF8-6F6A-456F-850C-84684D40690D}"/>
              </a:ext>
            </a:extLst>
          </p:cNvPr>
          <p:cNvSpPr>
            <a:spLocks noGrp="1"/>
          </p:cNvSpPr>
          <p:nvPr/>
        </p:nvSpPr>
        <p:spPr>
          <a:xfrm>
            <a:off x="1314450" y="4171950"/>
            <a:ext cx="5238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Retrieve nearby OpenStreetMap features</a:t>
            </a:r>
          </a:p>
        </p:txBody>
      </p:sp>
      <p:cxnSp>
        <p:nvCxnSpPr>
          <p:cNvPr id="39" name="land-sep-3"/>
          <p:cNvCxnSpPr/>
          <p:nvPr/>
        </p:nvCxnSpPr>
        <p:spPr>
          <a:xfrm>
            <a:off x="1314450" y="4781550"/>
            <a:ext cx="49530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18" name="land-n-4">
            <a:extLst>
              <a:ext uri="{FF2B5EF4-FFF2-40B4-BE49-F238E27FC236}">
                <a16:creationId xmlns:a16="http://schemas.microsoft.com/office/drawing/2014/main" id="{842E5F48-B53F-4CD0-B49F-3A8695C30ABE}"/>
              </a:ext>
            </a:extLst>
          </p:cNvPr>
          <p:cNvSpPr>
            <a:spLocks noGrp="1"/>
          </p:cNvSpPr>
          <p:nvPr/>
        </p:nvSpPr>
        <p:spPr>
          <a:xfrm>
            <a:off x="628650" y="49911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land-label-4">
            <a:extLst>
              <a:ext uri="{FF2B5EF4-FFF2-40B4-BE49-F238E27FC236}">
                <a16:creationId xmlns:a16="http://schemas.microsoft.com/office/drawing/2014/main" id="{B4CAF2C1-32EE-4DB4-B4F3-4BF2881C253B}"/>
              </a:ext>
            </a:extLst>
          </p:cNvPr>
          <p:cNvSpPr>
            <a:spLocks noGrp="1"/>
          </p:cNvSpPr>
          <p:nvPr/>
        </p:nvSpPr>
        <p:spPr>
          <a:xfrm>
            <a:off x="1314450" y="4991100"/>
            <a:ext cx="5238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Generate opportunities, risks and verification gaps</a:t>
            </a:r>
          </a:p>
        </p:txBody>
      </p:sp>
      <p:sp>
        <p:nvSpPr>
          <p:cNvPr id="20" name="land-caution">
            <a:extLst>
              <a:ext uri="{FF2B5EF4-FFF2-40B4-BE49-F238E27FC236}">
                <a16:creationId xmlns:a16="http://schemas.microsoft.com/office/drawing/2014/main" id="{EEF3CEC5-D110-495A-8BF8-4514C07E807C}"/>
              </a:ext>
            </a:extLst>
          </p:cNvPr>
          <p:cNvSpPr>
            <a:spLocks noGrp="1"/>
          </p:cNvSpPr>
          <p:nvPr/>
        </p:nvSpPr>
        <p:spPr>
          <a:xfrm>
            <a:off x="628650" y="5886450"/>
            <a:ext cx="609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rPr>
              <a:t>Location confidence is reported because a broad district match cannot prove an exact parcel location.</a:t>
            </a:r>
          </a:p>
        </p:txBody>
      </p:sp>
      <p:sp>
        <p:nvSpPr>
          <p:cNvPr id="21" name="footer-8">
            <a:extLst>
              <a:ext uri="{FF2B5EF4-FFF2-40B4-BE49-F238E27FC236}">
                <a16:creationId xmlns:a16="http://schemas.microsoft.com/office/drawing/2014/main" id="{A90108F6-2CCE-479E-9694-E11E0E17AE59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22" name="folio-8">
            <a:extLst>
              <a:ext uri="{FF2B5EF4-FFF2-40B4-BE49-F238E27FC236}">
                <a16:creationId xmlns:a16="http://schemas.microsoft.com/office/drawing/2014/main" id="{CDBB7DB1-59DD-4E20-B87D-E2A7AE13C9F4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0831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D9426138-2BC2-47E1-BD52-6CCDE7B26A5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Evidence boundaries in the land report</a:t>
            </a:r>
          </a:p>
        </p:txBody>
      </p:sp>
      <p:cxnSp>
        <p:nvCxnSpPr>
          <p:cNvPr id="19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3" name="evidence-k-0">
            <a:extLst>
              <a:ext uri="{FF2B5EF4-FFF2-40B4-BE49-F238E27FC236}">
                <a16:creationId xmlns:a16="http://schemas.microsoft.com/office/drawing/2014/main" id="{ECFCD73E-3B88-4C9E-BBA7-291839D48EBF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DOCUMENT EVIDENCE</a:t>
            </a:r>
          </a:p>
        </p:txBody>
      </p:sp>
      <p:sp>
        <p:nvSpPr>
          <p:cNvPr id="4" name="evidence-h-0">
            <a:extLst>
              <a:ext uri="{FF2B5EF4-FFF2-40B4-BE49-F238E27FC236}">
                <a16:creationId xmlns:a16="http://schemas.microsoft.com/office/drawing/2014/main" id="{DE6EB782-6907-471F-8075-16B19097E268}"/>
              </a:ext>
            </a:extLst>
          </p:cNvPr>
          <p:cNvSpPr>
            <a:spLocks noGrp="1"/>
          </p:cNvSpPr>
          <p:nvPr/>
        </p:nvSpPr>
        <p:spPr>
          <a:xfrm>
            <a:off x="628650" y="2419350"/>
            <a:ext cx="31813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Observed</a:t>
            </a:r>
          </a:p>
        </p:txBody>
      </p:sp>
      <p:cxnSp>
        <p:nvCxnSpPr>
          <p:cNvPr id="22" name="evidence-line-0"/>
          <p:cNvCxnSpPr/>
          <p:nvPr/>
        </p:nvCxnSpPr>
        <p:spPr>
          <a:xfrm>
            <a:off x="628650" y="3067050"/>
            <a:ext cx="3143250" cy="0"/>
          </a:xfrm>
          <a:prstGeom prst="straightConnector1">
            <a:avLst/>
          </a:prstGeom>
          <a:ln w="28575">
            <a:solidFill>
              <a:srgbClr val="D8A83E"/>
            </a:solidFill>
            <a:prstDash val="solid"/>
          </a:ln>
        </p:spPr>
      </p:cxnSp>
      <p:sp>
        <p:nvSpPr>
          <p:cNvPr id="6" name="evidence-b-0">
            <a:extLst>
              <a:ext uri="{FF2B5EF4-FFF2-40B4-BE49-F238E27FC236}">
                <a16:creationId xmlns:a16="http://schemas.microsoft.com/office/drawing/2014/main" id="{AEB7B21A-A286-4EFA-9762-D6E272FA3FB4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3181350" cy="1581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Measurements, boundaries, survey numbers, access roads, landmarks and location text</a:t>
            </a:r>
          </a:p>
        </p:txBody>
      </p:sp>
      <p:sp>
        <p:nvSpPr>
          <p:cNvPr id="7" name="evidence-k-1">
            <a:extLst>
              <a:ext uri="{FF2B5EF4-FFF2-40B4-BE49-F238E27FC236}">
                <a16:creationId xmlns:a16="http://schemas.microsoft.com/office/drawing/2014/main" id="{955F5418-9D0D-4717-8259-1B9A24643439}"/>
              </a:ext>
            </a:extLst>
          </p:cNvPr>
          <p:cNvSpPr>
            <a:spLocks noGrp="1"/>
          </p:cNvSpPr>
          <p:nvPr/>
        </p:nvSpPr>
        <p:spPr>
          <a:xfrm>
            <a:off x="4381500" y="1943100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EXTERNAL EVIDENCE</a:t>
            </a:r>
          </a:p>
        </p:txBody>
      </p:sp>
      <p:sp>
        <p:nvSpPr>
          <p:cNvPr id="8" name="evidence-h-1">
            <a:extLst>
              <a:ext uri="{FF2B5EF4-FFF2-40B4-BE49-F238E27FC236}">
                <a16:creationId xmlns:a16="http://schemas.microsoft.com/office/drawing/2014/main" id="{6DC9BD96-C8BD-499F-A18E-B181E14D1C78}"/>
              </a:ext>
            </a:extLst>
          </p:cNvPr>
          <p:cNvSpPr>
            <a:spLocks noGrp="1"/>
          </p:cNvSpPr>
          <p:nvPr/>
        </p:nvSpPr>
        <p:spPr>
          <a:xfrm>
            <a:off x="4381500" y="2419350"/>
            <a:ext cx="31813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Enriched</a:t>
            </a:r>
          </a:p>
        </p:txBody>
      </p:sp>
      <p:cxnSp>
        <p:nvCxnSpPr>
          <p:cNvPr id="26" name="evidence-line-1"/>
          <p:cNvCxnSpPr/>
          <p:nvPr/>
        </p:nvCxnSpPr>
        <p:spPr>
          <a:xfrm>
            <a:off x="4381500" y="3067050"/>
            <a:ext cx="3143250" cy="0"/>
          </a:xfrm>
          <a:prstGeom prst="straightConnector1">
            <a:avLst/>
          </a:prstGeom>
          <a:ln w="28575">
            <a:solidFill>
              <a:srgbClr val="D8A83E"/>
            </a:solidFill>
            <a:prstDash val="solid"/>
          </a:ln>
        </p:spPr>
      </p:cxnSp>
      <p:sp>
        <p:nvSpPr>
          <p:cNvPr id="10" name="evidence-b-1">
            <a:extLst>
              <a:ext uri="{FF2B5EF4-FFF2-40B4-BE49-F238E27FC236}">
                <a16:creationId xmlns:a16="http://schemas.microsoft.com/office/drawing/2014/main" id="{B08BFEAD-C74A-4A04-9CA1-4D87E39ADF55}"/>
              </a:ext>
            </a:extLst>
          </p:cNvPr>
          <p:cNvSpPr>
            <a:spLocks noGrp="1"/>
          </p:cNvSpPr>
          <p:nvPr/>
        </p:nvSpPr>
        <p:spPr>
          <a:xfrm>
            <a:off x="4381500" y="3371850"/>
            <a:ext cx="3181350" cy="1581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Geocoding match, coordinates, confidence and nearby OpenStreetMap features</a:t>
            </a:r>
          </a:p>
        </p:txBody>
      </p:sp>
      <p:sp>
        <p:nvSpPr>
          <p:cNvPr id="11" name="evidence-k-2">
            <a:extLst>
              <a:ext uri="{FF2B5EF4-FFF2-40B4-BE49-F238E27FC236}">
                <a16:creationId xmlns:a16="http://schemas.microsoft.com/office/drawing/2014/main" id="{1138BD48-AD2E-4E78-BC80-E4CDFAFC39E7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rPr>
              <a:t>MODEL INTERPRETATION</a:t>
            </a:r>
          </a:p>
        </p:txBody>
      </p:sp>
      <p:sp>
        <p:nvSpPr>
          <p:cNvPr id="12" name="evidence-h-2">
            <a:extLst>
              <a:ext uri="{FF2B5EF4-FFF2-40B4-BE49-F238E27FC236}">
                <a16:creationId xmlns:a16="http://schemas.microsoft.com/office/drawing/2014/main" id="{7D592E09-7ED8-4F81-9110-025038F559A9}"/>
              </a:ext>
            </a:extLst>
          </p:cNvPr>
          <p:cNvSpPr>
            <a:spLocks noGrp="1"/>
          </p:cNvSpPr>
          <p:nvPr/>
        </p:nvSpPr>
        <p:spPr>
          <a:xfrm>
            <a:off x="8134350" y="2419350"/>
            <a:ext cx="31813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Inferred</a:t>
            </a:r>
          </a:p>
        </p:txBody>
      </p:sp>
      <p:cxnSp>
        <p:nvCxnSpPr>
          <p:cNvPr id="30" name="evidence-line-2"/>
          <p:cNvCxnSpPr/>
          <p:nvPr/>
        </p:nvCxnSpPr>
        <p:spPr>
          <a:xfrm>
            <a:off x="8134350" y="3067050"/>
            <a:ext cx="3143250" cy="0"/>
          </a:xfrm>
          <a:prstGeom prst="straightConnector1">
            <a:avLst/>
          </a:prstGeom>
          <a:ln w="28575">
            <a:solidFill>
              <a:srgbClr val="A85D43"/>
            </a:solidFill>
            <a:prstDash val="solid"/>
          </a:ln>
        </p:spPr>
      </p:cxnSp>
      <p:sp>
        <p:nvSpPr>
          <p:cNvPr id="14" name="evidence-b-2">
            <a:extLst>
              <a:ext uri="{FF2B5EF4-FFF2-40B4-BE49-F238E27FC236}">
                <a16:creationId xmlns:a16="http://schemas.microsoft.com/office/drawing/2014/main" id="{A7015CDB-706A-4B31-8727-B52F9311D035}"/>
              </a:ext>
            </a:extLst>
          </p:cNvPr>
          <p:cNvSpPr>
            <a:spLocks noGrp="1"/>
          </p:cNvSpPr>
          <p:nvPr/>
        </p:nvSpPr>
        <p:spPr>
          <a:xfrm>
            <a:off x="8134350" y="3371850"/>
            <a:ext cx="3181350" cy="1581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Business opportunities, risks, missing information and recommended verification</a:t>
            </a:r>
          </a:p>
        </p:txBody>
      </p:sp>
      <p:sp>
        <p:nvSpPr>
          <p:cNvPr id="15" name="evidence-bottom">
            <a:extLst>
              <a:ext uri="{FF2B5EF4-FFF2-40B4-BE49-F238E27FC236}">
                <a16:creationId xmlns:a16="http://schemas.microsoft.com/office/drawing/2014/main" id="{F9E72675-D4B4-4314-9BD7-A8630077F435}"/>
              </a:ext>
            </a:extLst>
          </p:cNvPr>
          <p:cNvSpPr>
            <a:spLocks noGrp="1"/>
          </p:cNvSpPr>
          <p:nvPr/>
        </p:nvSpPr>
        <p:spPr>
          <a:xfrm>
            <a:off x="1714500" y="5543550"/>
            <a:ext cx="8763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8794"/>
          </a:bodyPr>
          <a:lstStyle/>
          <a:p>
            <a:pPr algn="ctr">
              <a:defRPr sz="19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The report does not replace a surveyor, lawyer, valuer or planning authority.</a:t>
            </a:r>
          </a:p>
        </p:txBody>
      </p:sp>
      <p:sp>
        <p:nvSpPr>
          <p:cNvPr id="16" name="footer-9">
            <a:extLst>
              <a:ext uri="{FF2B5EF4-FFF2-40B4-BE49-F238E27FC236}">
                <a16:creationId xmlns:a16="http://schemas.microsoft.com/office/drawing/2014/main" id="{814DEFA2-EC2D-41B9-8133-755E18451A3A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17" name="folio-9">
            <a:extLst>
              <a:ext uri="{FF2B5EF4-FFF2-40B4-BE49-F238E27FC236}">
                <a16:creationId xmlns:a16="http://schemas.microsoft.com/office/drawing/2014/main" id="{11A914C5-90DD-432C-9B45-2BEBDE03946E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20102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73393ECA-A0F5-4A0A-A55D-477941A3A77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Production-oriented user experience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CC867DC-7828-4079-812A-F329DFDB584E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C7D5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7D5D0"/>
                </a:solidFill>
                <a:latin typeface="Helvetica Neue"/>
                <a:ea typeface="Helvetica Neue"/>
                <a:cs typeface="Helvetica Neue"/>
              </a:rPr>
              <a:t>Conversation history, fixed prompting and source inspection support a longer research session.</a:t>
            </a:r>
          </a:p>
        </p:txBody>
      </p:sp>
      <p:cxnSp>
        <p:nvCxnSpPr>
          <p:cNvPr id="11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49645F"/>
            </a:solidFill>
            <a:prstDash val="solid"/>
          </a:ln>
        </p:spPr>
      </p:cxnSp>
      <p:sp>
        <p:nvSpPr>
          <p:cNvPr id="4" name="ui-bg">
            <a:extLst>
              <a:ext uri="{FF2B5EF4-FFF2-40B4-BE49-F238E27FC236}">
                <a16:creationId xmlns:a16="http://schemas.microsoft.com/office/drawing/2014/main" id="{6DCF8A20-3473-465C-B0B0-6B07E6A1B0E5}"/>
              </a:ext>
            </a:extLst>
          </p:cNvPr>
          <p:cNvSpPr>
            <a:spLocks noGrp="1"/>
          </p:cNvSpPr>
          <p:nvPr/>
        </p:nvSpPr>
        <p:spPr>
          <a:xfrm>
            <a:off x="628650" y="1638300"/>
            <a:ext cx="1093470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48615C"/>
            </a:solidFill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9200" y="1752600"/>
            <a:ext cx="7213600" cy="4057650"/>
          </a:xfrm>
          <a:prstGeom prst="rect">
            <a:avLst/>
          </a:prstGeom>
        </p:spPr>
      </p:pic>
      <p:sp>
        <p:nvSpPr>
          <p:cNvPr id="6" name="ui-caption">
            <a:extLst>
              <a:ext uri="{FF2B5EF4-FFF2-40B4-BE49-F238E27FC236}">
                <a16:creationId xmlns:a16="http://schemas.microsoft.com/office/drawing/2014/main" id="{4BB028D0-9B0E-4B23-91A2-1AEA22C24A53}"/>
              </a:ext>
            </a:extLst>
          </p:cNvPr>
          <p:cNvSpPr>
            <a:spLocks noGrp="1"/>
          </p:cNvSpPr>
          <p:nvPr/>
        </p:nvSpPr>
        <p:spPr>
          <a:xfrm>
            <a:off x="1143000" y="609600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B7C8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B7C8C2"/>
                </a:solidFill>
                <a:latin typeface="Helvetica Neue"/>
                <a:ea typeface="Helvetica Neue"/>
                <a:cs typeface="Helvetica Neue"/>
              </a:rPr>
              <a:t>Ask AI, Business Advisor and Land Intelligence remain available from one responsive interface.</a:t>
            </a:r>
          </a:p>
        </p:txBody>
      </p:sp>
      <p:sp>
        <p:nvSpPr>
          <p:cNvPr id="7" name="footer-10">
            <a:extLst>
              <a:ext uri="{FF2B5EF4-FFF2-40B4-BE49-F238E27FC236}">
                <a16:creationId xmlns:a16="http://schemas.microsoft.com/office/drawing/2014/main" id="{6DD5FD45-32DA-4942-917B-E677313BD609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8" name="folio-10">
            <a:extLst>
              <a:ext uri="{FF2B5EF4-FFF2-40B4-BE49-F238E27FC236}">
                <a16:creationId xmlns:a16="http://schemas.microsoft.com/office/drawing/2014/main" id="{27B72E96-8147-4DFD-903F-C0BA0E6768D2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5574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9CF1918B-6B3E-4718-BB99-D49350C8B58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LangSmith observability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8678E5A-62EA-4090-B1AE-C07E34294048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 real Agent run exposes the model decision and downstream tools.</a:t>
            </a:r>
          </a:p>
        </p:txBody>
      </p:sp>
      <p:cxnSp>
        <p:nvCxnSpPr>
          <p:cNvPr id="16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4" name="trace-bg">
            <a:extLst>
              <a:ext uri="{FF2B5EF4-FFF2-40B4-BE49-F238E27FC236}">
                <a16:creationId xmlns:a16="http://schemas.microsoft.com/office/drawing/2014/main" id="{63D561AE-3A20-428F-8D26-CEAFC20CF46A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8096250" cy="4540918"/>
          </a:xfrm>
          <a:prstGeom prst="roundRect">
            <a:avLst>
              <a:gd name="adj" fmla="val 1818"/>
            </a:avLst>
          </a:prstGeom>
          <a:solidFill>
            <a:srgbClr val="101019"/>
          </a:solidFill>
          <a:ln w="9525">
            <a:solidFill>
              <a:srgbClr val="343447"/>
            </a:solidFill>
            <a:prstDash val="solid"/>
          </a:ln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18133" y="1924051"/>
            <a:ext cx="7930917" cy="3406917"/>
          </a:xfrm>
          <a:prstGeom prst="rect">
            <a:avLst/>
          </a:prstGeom>
        </p:spPr>
      </p:pic>
      <p:sp>
        <p:nvSpPr>
          <p:cNvPr id="6" name="trace-one">
            <a:extLst>
              <a:ext uri="{FF2B5EF4-FFF2-40B4-BE49-F238E27FC236}">
                <a16:creationId xmlns:a16="http://schemas.microsoft.com/office/drawing/2014/main" id="{E4CE0888-652B-4430-AAD9-19C9ADB1FE4C}"/>
              </a:ext>
            </a:extLst>
          </p:cNvPr>
          <p:cNvSpPr>
            <a:spLocks noGrp="1"/>
          </p:cNvSpPr>
          <p:nvPr/>
        </p:nvSpPr>
        <p:spPr>
          <a:xfrm>
            <a:off x="704850" y="18669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trace-one-copy">
            <a:extLst>
              <a:ext uri="{FF2B5EF4-FFF2-40B4-BE49-F238E27FC236}">
                <a16:creationId xmlns:a16="http://schemas.microsoft.com/office/drawing/2014/main" id="{AED1CA7D-DF2D-462C-BD7E-0F1DB52CB6F5}"/>
              </a:ext>
            </a:extLst>
          </p:cNvPr>
          <p:cNvSpPr>
            <a:spLocks noGrp="1"/>
          </p:cNvSpPr>
          <p:nvPr/>
        </p:nvSpPr>
        <p:spPr>
          <a:xfrm>
            <a:off x="1276350" y="1885950"/>
            <a:ext cx="2190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Contextualize the follow-up question</a:t>
            </a:r>
          </a:p>
        </p:txBody>
      </p:sp>
      <p:sp>
        <p:nvSpPr>
          <p:cNvPr id="8" name="trace-two">
            <a:extLst>
              <a:ext uri="{FF2B5EF4-FFF2-40B4-BE49-F238E27FC236}">
                <a16:creationId xmlns:a16="http://schemas.microsoft.com/office/drawing/2014/main" id="{226C63D9-BBAB-4FB2-BD8C-936B13A0E400}"/>
              </a:ext>
            </a:extLst>
          </p:cNvPr>
          <p:cNvSpPr>
            <a:spLocks noGrp="1"/>
          </p:cNvSpPr>
          <p:nvPr/>
        </p:nvSpPr>
        <p:spPr>
          <a:xfrm>
            <a:off x="704850" y="30099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trace-two-copy">
            <a:extLst>
              <a:ext uri="{FF2B5EF4-FFF2-40B4-BE49-F238E27FC236}">
                <a16:creationId xmlns:a16="http://schemas.microsoft.com/office/drawing/2014/main" id="{4AADFDCC-466E-4466-BAA6-1D5D132FC3B3}"/>
              </a:ext>
            </a:extLst>
          </p:cNvPr>
          <p:cNvSpPr>
            <a:spLocks noGrp="1"/>
          </p:cNvSpPr>
          <p:nvPr/>
        </p:nvSpPr>
        <p:spPr>
          <a:xfrm>
            <a:off x="1276350" y="3028950"/>
            <a:ext cx="21907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Choose Knowledge Search and record the reason</a:t>
            </a:r>
          </a:p>
        </p:txBody>
      </p:sp>
      <p:sp>
        <p:nvSpPr>
          <p:cNvPr id="10" name="trace-three">
            <a:extLst>
              <a:ext uri="{FF2B5EF4-FFF2-40B4-BE49-F238E27FC236}">
                <a16:creationId xmlns:a16="http://schemas.microsoft.com/office/drawing/2014/main" id="{7A40556B-FBF8-45CC-9FE6-F67443A05EC3}"/>
              </a:ext>
            </a:extLst>
          </p:cNvPr>
          <p:cNvSpPr>
            <a:spLocks noGrp="1"/>
          </p:cNvSpPr>
          <p:nvPr/>
        </p:nvSpPr>
        <p:spPr>
          <a:xfrm>
            <a:off x="704850" y="4343400"/>
            <a:ext cx="476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trace-three-copy">
            <a:extLst>
              <a:ext uri="{FF2B5EF4-FFF2-40B4-BE49-F238E27FC236}">
                <a16:creationId xmlns:a16="http://schemas.microsoft.com/office/drawing/2014/main" id="{AA8369A0-187C-4DF7-A165-C2A36E4B7A54}"/>
              </a:ext>
            </a:extLst>
          </p:cNvPr>
          <p:cNvSpPr>
            <a:spLocks noGrp="1"/>
          </p:cNvSpPr>
          <p:nvPr/>
        </p:nvSpPr>
        <p:spPr>
          <a:xfrm>
            <a:off x="1276350" y="4362450"/>
            <a:ext cx="21907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Retrieve, rerank and generate a sourced answer</a:t>
            </a:r>
          </a:p>
        </p:txBody>
      </p:sp>
      <p:sp>
        <p:nvSpPr>
          <p:cNvPr id="12" name="footer-11">
            <a:extLst>
              <a:ext uri="{FF2B5EF4-FFF2-40B4-BE49-F238E27FC236}">
                <a16:creationId xmlns:a16="http://schemas.microsoft.com/office/drawing/2014/main" id="{437BF97A-5BB5-4014-B8E8-E2E71C072487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13" name="folio-11">
            <a:extLst>
              <a:ext uri="{FF2B5EF4-FFF2-40B4-BE49-F238E27FC236}">
                <a16:creationId xmlns:a16="http://schemas.microsoft.com/office/drawing/2014/main" id="{73834C2C-7287-404C-A581-6E5064F6F76B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2191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90031988-9F09-4A78-B319-31DA57B7808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Retrieval evaluation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CE098E2-6F2C-49AA-BF10-9EDC3B1D5287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Thirty benchmark questions compare the baseline with the production retrieval pipeline.</a:t>
            </a:r>
          </a:p>
        </p:txBody>
      </p:sp>
      <p:cxnSp>
        <p:nvCxnSpPr>
          <p:cNvPr id="13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graphicFrame>
        <p:nvGraphicFramePr>
          <p:cNvPr id="14" name="Chart"/>
          <p:cNvGraphicFramePr/>
          <p:nvPr/>
        </p:nvGraphicFramePr>
        <p:xfrm>
          <a:off x="590550" y="1733550"/>
          <a:ext cx="72390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eval-finding">
            <a:extLst>
              <a:ext uri="{FF2B5EF4-FFF2-40B4-BE49-F238E27FC236}">
                <a16:creationId xmlns:a16="http://schemas.microsoft.com/office/drawing/2014/main" id="{CC4FD818-00D0-45BA-8672-A1ABEE66223E}"/>
              </a:ext>
            </a:extLst>
          </p:cNvPr>
          <p:cNvSpPr>
            <a:spLocks noGrp="1"/>
          </p:cNvSpPr>
          <p:nvPr/>
        </p:nvSpPr>
        <p:spPr>
          <a:xfrm>
            <a:off x="8210550" y="1924050"/>
            <a:ext cx="3143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6420" lnSpcReduction="10000"/>
          </a:bodyPr>
          <a:lstStyle/>
          <a:p>
            <a:pPr algn="l">
              <a:defRPr sz="202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The baseline slightly outperformed reranking on this dataset.</a:t>
            </a:r>
          </a:p>
        </p:txBody>
      </p:sp>
      <p:sp>
        <p:nvSpPr>
          <p:cNvPr id="6" name="eval-strong">
            <a:extLst>
              <a:ext uri="{FF2B5EF4-FFF2-40B4-BE49-F238E27FC236}">
                <a16:creationId xmlns:a16="http://schemas.microsoft.com/office/drawing/2014/main" id="{F6458CC2-6318-47F7-90DC-75B0EF5F5C54}"/>
              </a:ext>
            </a:extLst>
          </p:cNvPr>
          <p:cNvSpPr>
            <a:spLocks noGrp="1"/>
          </p:cNvSpPr>
          <p:nvPr/>
        </p:nvSpPr>
        <p:spPr>
          <a:xfrm>
            <a:off x="8210550" y="3143250"/>
            <a:ext cx="285750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Strongest coverage</a:t>
            </a:r>
          </a:p>
          <a:p>
            <a:pPr algn="l">
              <a:defRPr sz="142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Investment 100%</a:t>
            </a:r>
          </a:p>
          <a:p>
            <a:pPr algn="l">
              <a:defRPr sz="142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Agriculture 80%</a:t>
            </a:r>
          </a:p>
          <a:p>
            <a:pPr algn="l">
              <a:defRPr sz="142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F5B4F"/>
                </a:solidFill>
                <a:latin typeface="Helvetica Neue"/>
                <a:ea typeface="Helvetica Neue"/>
                <a:cs typeface="Helvetica Neue"/>
              </a:rPr>
              <a:t>Export 80%</a:t>
            </a:r>
          </a:p>
        </p:txBody>
      </p:sp>
      <p:sp>
        <p:nvSpPr>
          <p:cNvPr id="7" name="eval-gap">
            <a:extLst>
              <a:ext uri="{FF2B5EF4-FFF2-40B4-BE49-F238E27FC236}">
                <a16:creationId xmlns:a16="http://schemas.microsoft.com/office/drawing/2014/main" id="{A9352F1B-040A-4903-A131-59FF0B87F9DE}"/>
              </a:ext>
            </a:extLst>
          </p:cNvPr>
          <p:cNvSpPr>
            <a:spLocks noGrp="1"/>
          </p:cNvSpPr>
          <p:nvPr/>
        </p:nvSpPr>
        <p:spPr>
          <a:xfrm>
            <a:off x="8210550" y="4572000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rPr>
              <a:t>Largest gaps</a:t>
            </a:r>
          </a:p>
          <a:p>
            <a:pPr algn="l">
              <a:defRPr sz="14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rPr>
              <a:t>Statistics 20%</a:t>
            </a:r>
          </a:p>
          <a:p>
            <a:pPr algn="l">
              <a:defRPr sz="14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rPr>
              <a:t>Tax and compliance 0%</a:t>
            </a:r>
          </a:p>
        </p:txBody>
      </p:sp>
      <p:sp>
        <p:nvSpPr>
          <p:cNvPr id="8" name="eval-note">
            <a:extLst>
              <a:ext uri="{FF2B5EF4-FFF2-40B4-BE49-F238E27FC236}">
                <a16:creationId xmlns:a16="http://schemas.microsoft.com/office/drawing/2014/main" id="{B1B2CEE1-01F2-446F-BDA6-DE0D5CABE7ED}"/>
              </a:ext>
            </a:extLst>
          </p:cNvPr>
          <p:cNvSpPr>
            <a:spLocks noGrp="1"/>
          </p:cNvSpPr>
          <p:nvPr/>
        </p:nvSpPr>
        <p:spPr>
          <a:xfrm>
            <a:off x="857250" y="579120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result identifies data coverage and reranker tuning as measurable improvement areas.</a:t>
            </a:r>
          </a:p>
        </p:txBody>
      </p:sp>
      <p:sp>
        <p:nvSpPr>
          <p:cNvPr id="9" name="footer-12">
            <a:extLst>
              <a:ext uri="{FF2B5EF4-FFF2-40B4-BE49-F238E27FC236}">
                <a16:creationId xmlns:a16="http://schemas.microsoft.com/office/drawing/2014/main" id="{7572A778-646E-4F2F-B324-9E586116D488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10" name="folio-12">
            <a:extLst>
              <a:ext uri="{FF2B5EF4-FFF2-40B4-BE49-F238E27FC236}">
                <a16:creationId xmlns:a16="http://schemas.microsoft.com/office/drawing/2014/main" id="{DF57417B-B31F-4C9B-9D7F-A1875B104FBE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7718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39DB8246-04D5-459E-9D71-FFFBDEB5267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Final project requirement coverage</a:t>
            </a:r>
          </a:p>
        </p:txBody>
      </p:sp>
      <p:cxnSp>
        <p:nvCxnSpPr>
          <p:cNvPr id="8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graphicFrame>
        <p:nvGraphicFramePr>
          <p:cNvPr id="9" name="Table 8"/>
          <p:cNvGraphicFramePr/>
          <p:nvPr/>
        </p:nvGraphicFramePr>
        <p:xfrm>
          <a:off x="628650" y="1676400"/>
          <a:ext cx="10934700" cy="4191003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</a:t>
                      </a:r>
                    </a:p>
                  </a:txBody>
                  <a:tcPr>
                    <a:solidFill>
                      <a:srgbClr val="142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</a:t>
                      </a:r>
                    </a:p>
                  </a:txBody>
                  <a:tcPr>
                    <a:solidFill>
                      <a:srgbClr val="142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>
                    <a:solidFill>
                      <a:srgbClr val="14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pgvector retrieval, reranking and citations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Agents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Runtime tool selection, memory and routing reason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 and Land Intelligence LangSmith traces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Multimodal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PDF/image land-plan interpretation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 questions, baseline, metrics and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Web application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FastAPI and responsive Next.js interface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A85D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Production configuration prepared; public URL remains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Presentation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Ready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B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deck, live demo flow and evidence screenshots</a:t>
                      </a:r>
                    </a:p>
                  </a:txBody>
                  <a:tcPr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quirements-note">
            <a:extLst>
              <a:ext uri="{FF2B5EF4-FFF2-40B4-BE49-F238E27FC236}">
                <a16:creationId xmlns:a16="http://schemas.microsoft.com/office/drawing/2014/main" id="{2C662998-6E53-436B-9701-644BACDAFB9C}"/>
              </a:ext>
            </a:extLst>
          </p:cNvPr>
          <p:cNvSpPr>
            <a:spLocks noGrp="1"/>
          </p:cNvSpPr>
          <p:nvPr/>
        </p:nvSpPr>
        <p:spPr>
          <a:xfrm>
            <a:off x="1428750" y="60579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rPr>
              <a:t>The remaining submission risk is the public deployment URL.</a:t>
            </a:r>
          </a:p>
        </p:txBody>
      </p:sp>
      <p:sp>
        <p:nvSpPr>
          <p:cNvPr id="5" name="footer-13">
            <a:extLst>
              <a:ext uri="{FF2B5EF4-FFF2-40B4-BE49-F238E27FC236}">
                <a16:creationId xmlns:a16="http://schemas.microsoft.com/office/drawing/2014/main" id="{70B570D3-6803-4D70-88C5-5778BB8AB1ED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6" name="folio-13">
            <a:extLst>
              <a:ext uri="{FF2B5EF4-FFF2-40B4-BE49-F238E27FC236}">
                <a16:creationId xmlns:a16="http://schemas.microsoft.com/office/drawing/2014/main" id="{45FE54AE-E3FE-4CA9-9085-928417DB8591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1137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title">
            <a:extLst>
              <a:ext uri="{FF2B5EF4-FFF2-40B4-BE49-F238E27FC236}">
                <a16:creationId xmlns:a16="http://schemas.microsoft.com/office/drawing/2014/main" id="{A2208E34-DFEC-4323-86F4-A0ECB80B324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demonstration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03AFE989-D9EB-4741-A90D-F98F22A1B360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C7D5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7D5D0"/>
                </a:solidFill>
                <a:latin typeface="Helvetica Neue"/>
                <a:ea typeface="Helvetica Neue"/>
                <a:cs typeface="Helvetica Neue"/>
              </a:rPr>
              <a:t>A short sequence proves grounding, memory, multimodal analysis and agent behavior.</a:t>
            </a:r>
          </a:p>
        </p:txBody>
      </p:sp>
      <p:cxnSp>
        <p:nvCxnSpPr>
          <p:cNvPr id="32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49645F"/>
            </a:solidFill>
            <a:prstDash val="solid"/>
          </a:ln>
        </p:spPr>
      </p:cxnSp>
      <p:cxnSp>
        <p:nvCxnSpPr>
          <p:cNvPr id="33" name="demo-line"/>
          <p:cNvCxnSpPr/>
          <p:nvPr/>
        </p:nvCxnSpPr>
        <p:spPr>
          <a:xfrm>
            <a:off x="1028700" y="2781300"/>
            <a:ext cx="10134600" cy="0"/>
          </a:xfrm>
          <a:prstGeom prst="straightConnector1">
            <a:avLst/>
          </a:prstGeom>
          <a:ln w="28575">
            <a:solidFill>
              <a:srgbClr val="D8A83E"/>
            </a:solidFill>
            <a:prstDash val="solid"/>
          </a:ln>
        </p:spPr>
      </p:cxnSp>
      <p:sp>
        <p:nvSpPr>
          <p:cNvPr id="5" name="demo-dot-0">
            <a:extLst>
              <a:ext uri="{FF2B5EF4-FFF2-40B4-BE49-F238E27FC236}">
                <a16:creationId xmlns:a16="http://schemas.microsoft.com/office/drawing/2014/main" id="{9AE1BA92-FA46-4A12-B7CF-9728A80C567B}"/>
              </a:ext>
            </a:extLst>
          </p:cNvPr>
          <p:cNvSpPr>
            <a:spLocks noGrp="1"/>
          </p:cNvSpPr>
          <p:nvPr/>
        </p:nvSpPr>
        <p:spPr>
          <a:xfrm>
            <a:off x="1257300" y="2571750"/>
            <a:ext cx="419100" cy="41910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6" name="demo-n-0">
            <a:extLst>
              <a:ext uri="{FF2B5EF4-FFF2-40B4-BE49-F238E27FC236}">
                <a16:creationId xmlns:a16="http://schemas.microsoft.com/office/drawing/2014/main" id="{A08DA992-AEE3-48A4-8BB8-E9EDA366C601}"/>
              </a:ext>
            </a:extLst>
          </p:cNvPr>
          <p:cNvSpPr>
            <a:spLocks noGrp="1"/>
          </p:cNvSpPr>
          <p:nvPr/>
        </p:nvSpPr>
        <p:spPr>
          <a:xfrm>
            <a:off x="1257300" y="2676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demo-h-0">
            <a:extLst>
              <a:ext uri="{FF2B5EF4-FFF2-40B4-BE49-F238E27FC236}">
                <a16:creationId xmlns:a16="http://schemas.microsoft.com/office/drawing/2014/main" id="{E90D0105-D4DF-4A35-99B9-251E69675570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Ask AI</a:t>
            </a:r>
          </a:p>
        </p:txBody>
      </p:sp>
      <p:sp>
        <p:nvSpPr>
          <p:cNvPr id="8" name="demo-b-0">
            <a:extLst>
              <a:ext uri="{FF2B5EF4-FFF2-40B4-BE49-F238E27FC236}">
                <a16:creationId xmlns:a16="http://schemas.microsoft.com/office/drawing/2014/main" id="{2E23C9CB-171D-47C0-90BB-F6C7A13AB529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rPr>
              <a:t>Investment question</a:t>
            </a:r>
          </a:p>
        </p:txBody>
      </p:sp>
      <p:sp>
        <p:nvSpPr>
          <p:cNvPr id="9" name="demo-dot-1">
            <a:extLst>
              <a:ext uri="{FF2B5EF4-FFF2-40B4-BE49-F238E27FC236}">
                <a16:creationId xmlns:a16="http://schemas.microsoft.com/office/drawing/2014/main" id="{15839B30-E124-48E5-8409-B0864C7A393B}"/>
              </a:ext>
            </a:extLst>
          </p:cNvPr>
          <p:cNvSpPr>
            <a:spLocks noGrp="1"/>
          </p:cNvSpPr>
          <p:nvPr/>
        </p:nvSpPr>
        <p:spPr>
          <a:xfrm>
            <a:off x="3543300" y="2571750"/>
            <a:ext cx="419100" cy="41910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10" name="demo-n-1">
            <a:extLst>
              <a:ext uri="{FF2B5EF4-FFF2-40B4-BE49-F238E27FC236}">
                <a16:creationId xmlns:a16="http://schemas.microsoft.com/office/drawing/2014/main" id="{5111AC83-1340-4D81-B143-75E6DDBCED1D}"/>
              </a:ext>
            </a:extLst>
          </p:cNvPr>
          <p:cNvSpPr>
            <a:spLocks noGrp="1"/>
          </p:cNvSpPr>
          <p:nvPr/>
        </p:nvSpPr>
        <p:spPr>
          <a:xfrm>
            <a:off x="3543300" y="2676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demo-h-1">
            <a:extLst>
              <a:ext uri="{FF2B5EF4-FFF2-40B4-BE49-F238E27FC236}">
                <a16:creationId xmlns:a16="http://schemas.microsoft.com/office/drawing/2014/main" id="{860B9666-CC94-4AD8-BA9E-76D70D0A81A3}"/>
              </a:ext>
            </a:extLst>
          </p:cNvPr>
          <p:cNvSpPr>
            <a:spLocks noGrp="1"/>
          </p:cNvSpPr>
          <p:nvPr/>
        </p:nvSpPr>
        <p:spPr>
          <a:xfrm>
            <a:off x="2971800" y="32575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Follow up</a:t>
            </a:r>
          </a:p>
        </p:txBody>
      </p:sp>
      <p:sp>
        <p:nvSpPr>
          <p:cNvPr id="12" name="demo-b-1">
            <a:extLst>
              <a:ext uri="{FF2B5EF4-FFF2-40B4-BE49-F238E27FC236}">
                <a16:creationId xmlns:a16="http://schemas.microsoft.com/office/drawing/2014/main" id="{90A3C0EE-EB58-4081-9178-5016F367AC2B}"/>
              </a:ext>
            </a:extLst>
          </p:cNvPr>
          <p:cNvSpPr>
            <a:spLocks noGrp="1"/>
          </p:cNvSpPr>
          <p:nvPr/>
        </p:nvSpPr>
        <p:spPr>
          <a:xfrm>
            <a:off x="2857500" y="3676650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rPr>
              <a:t>Conversation memory</a:t>
            </a:r>
          </a:p>
        </p:txBody>
      </p:sp>
      <p:sp>
        <p:nvSpPr>
          <p:cNvPr id="13" name="demo-dot-2">
            <a:extLst>
              <a:ext uri="{FF2B5EF4-FFF2-40B4-BE49-F238E27FC236}">
                <a16:creationId xmlns:a16="http://schemas.microsoft.com/office/drawing/2014/main" id="{2EBCE8F2-742F-4EB8-AFD0-F8A04DA5BFDA}"/>
              </a:ext>
            </a:extLst>
          </p:cNvPr>
          <p:cNvSpPr>
            <a:spLocks noGrp="1"/>
          </p:cNvSpPr>
          <p:nvPr/>
        </p:nvSpPr>
        <p:spPr>
          <a:xfrm>
            <a:off x="5829300" y="2571750"/>
            <a:ext cx="419100" cy="41910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14" name="demo-n-2">
            <a:extLst>
              <a:ext uri="{FF2B5EF4-FFF2-40B4-BE49-F238E27FC236}">
                <a16:creationId xmlns:a16="http://schemas.microsoft.com/office/drawing/2014/main" id="{C086D832-1EF8-4DA1-8BC4-6B60AF50F469}"/>
              </a:ext>
            </a:extLst>
          </p:cNvPr>
          <p:cNvSpPr>
            <a:spLocks noGrp="1"/>
          </p:cNvSpPr>
          <p:nvPr/>
        </p:nvSpPr>
        <p:spPr>
          <a:xfrm>
            <a:off x="5829300" y="2676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demo-h-2">
            <a:extLst>
              <a:ext uri="{FF2B5EF4-FFF2-40B4-BE49-F238E27FC236}">
                <a16:creationId xmlns:a16="http://schemas.microsoft.com/office/drawing/2014/main" id="{44B8E0F0-1AA3-4076-8AD2-A115D5B68BE3}"/>
              </a:ext>
            </a:extLst>
          </p:cNvPr>
          <p:cNvSpPr>
            <a:spLocks noGrp="1"/>
          </p:cNvSpPr>
          <p:nvPr/>
        </p:nvSpPr>
        <p:spPr>
          <a:xfrm>
            <a:off x="5257800" y="32575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Inspect sources</a:t>
            </a:r>
          </a:p>
        </p:txBody>
      </p:sp>
      <p:sp>
        <p:nvSpPr>
          <p:cNvPr id="16" name="demo-b-2">
            <a:extLst>
              <a:ext uri="{FF2B5EF4-FFF2-40B4-BE49-F238E27FC236}">
                <a16:creationId xmlns:a16="http://schemas.microsoft.com/office/drawing/2014/main" id="{A0FCEB57-5DC2-42BE-9C50-5A365AE8C964}"/>
              </a:ext>
            </a:extLst>
          </p:cNvPr>
          <p:cNvSpPr>
            <a:spLocks noGrp="1"/>
          </p:cNvSpPr>
          <p:nvPr/>
        </p:nvSpPr>
        <p:spPr>
          <a:xfrm>
            <a:off x="5143500" y="3676650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rPr>
              <a:t>Document evidence</a:t>
            </a:r>
          </a:p>
        </p:txBody>
      </p:sp>
      <p:sp>
        <p:nvSpPr>
          <p:cNvPr id="17" name="demo-dot-3">
            <a:extLst>
              <a:ext uri="{FF2B5EF4-FFF2-40B4-BE49-F238E27FC236}">
                <a16:creationId xmlns:a16="http://schemas.microsoft.com/office/drawing/2014/main" id="{9AF49CAF-2166-4120-A144-CE30AE1AA0A6}"/>
              </a:ext>
            </a:extLst>
          </p:cNvPr>
          <p:cNvSpPr>
            <a:spLocks noGrp="1"/>
          </p:cNvSpPr>
          <p:nvPr/>
        </p:nvSpPr>
        <p:spPr>
          <a:xfrm>
            <a:off x="8115300" y="2571750"/>
            <a:ext cx="419100" cy="419100"/>
          </a:xfrm>
          <a:prstGeom prst="ellipse">
            <a:avLst/>
          </a:prstGeom>
          <a:solidFill>
            <a:srgbClr val="357565"/>
          </a:solidFill>
          <a:ln w="0">
            <a:noFill/>
            <a:prstDash val="solid"/>
          </a:ln>
        </p:spPr>
      </p:sp>
      <p:sp>
        <p:nvSpPr>
          <p:cNvPr id="18" name="demo-n-3">
            <a:extLst>
              <a:ext uri="{FF2B5EF4-FFF2-40B4-BE49-F238E27FC236}">
                <a16:creationId xmlns:a16="http://schemas.microsoft.com/office/drawing/2014/main" id="{731D3A77-7153-464C-A0D5-8F13A7778E0F}"/>
              </a:ext>
            </a:extLst>
          </p:cNvPr>
          <p:cNvSpPr>
            <a:spLocks noGrp="1"/>
          </p:cNvSpPr>
          <p:nvPr/>
        </p:nvSpPr>
        <p:spPr>
          <a:xfrm>
            <a:off x="8115300" y="2676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demo-h-3">
            <a:extLst>
              <a:ext uri="{FF2B5EF4-FFF2-40B4-BE49-F238E27FC236}">
                <a16:creationId xmlns:a16="http://schemas.microsoft.com/office/drawing/2014/main" id="{76B30A29-99A3-46FD-851E-98AEF31000AC}"/>
              </a:ext>
            </a:extLst>
          </p:cNvPr>
          <p:cNvSpPr>
            <a:spLocks noGrp="1"/>
          </p:cNvSpPr>
          <p:nvPr/>
        </p:nvSpPr>
        <p:spPr>
          <a:xfrm>
            <a:off x="7543800" y="32575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Analyze land</a:t>
            </a:r>
          </a:p>
        </p:txBody>
      </p:sp>
      <p:sp>
        <p:nvSpPr>
          <p:cNvPr id="20" name="demo-b-3">
            <a:extLst>
              <a:ext uri="{FF2B5EF4-FFF2-40B4-BE49-F238E27FC236}">
                <a16:creationId xmlns:a16="http://schemas.microsoft.com/office/drawing/2014/main" id="{9A70BCAB-03A6-4AC6-8A7E-90E8E36B50B9}"/>
              </a:ext>
            </a:extLst>
          </p:cNvPr>
          <p:cNvSpPr>
            <a:spLocks noGrp="1"/>
          </p:cNvSpPr>
          <p:nvPr/>
        </p:nvSpPr>
        <p:spPr>
          <a:xfrm>
            <a:off x="7429500" y="3676650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rPr>
              <a:t>Vision + location</a:t>
            </a:r>
          </a:p>
        </p:txBody>
      </p:sp>
      <p:sp>
        <p:nvSpPr>
          <p:cNvPr id="21" name="demo-dot-4">
            <a:extLst>
              <a:ext uri="{FF2B5EF4-FFF2-40B4-BE49-F238E27FC236}">
                <a16:creationId xmlns:a16="http://schemas.microsoft.com/office/drawing/2014/main" id="{CC13534A-031B-4D20-BB7A-BA5538310A24}"/>
              </a:ext>
            </a:extLst>
          </p:cNvPr>
          <p:cNvSpPr>
            <a:spLocks noGrp="1"/>
          </p:cNvSpPr>
          <p:nvPr/>
        </p:nvSpPr>
        <p:spPr>
          <a:xfrm>
            <a:off x="10401300" y="2571750"/>
            <a:ext cx="419100" cy="419100"/>
          </a:xfrm>
          <a:prstGeom prst="ellipse">
            <a:avLst/>
          </a:prstGeom>
          <a:solidFill>
            <a:srgbClr val="D8A83E"/>
          </a:solidFill>
          <a:ln w="0">
            <a:noFill/>
            <a:prstDash val="solid"/>
          </a:ln>
        </p:spPr>
      </p:sp>
      <p:sp>
        <p:nvSpPr>
          <p:cNvPr id="22" name="demo-n-4">
            <a:extLst>
              <a:ext uri="{FF2B5EF4-FFF2-40B4-BE49-F238E27FC236}">
                <a16:creationId xmlns:a16="http://schemas.microsoft.com/office/drawing/2014/main" id="{09E86E0E-93C7-4633-835A-531DE79B335A}"/>
              </a:ext>
            </a:extLst>
          </p:cNvPr>
          <p:cNvSpPr>
            <a:spLocks noGrp="1"/>
          </p:cNvSpPr>
          <p:nvPr/>
        </p:nvSpPr>
        <p:spPr>
          <a:xfrm>
            <a:off x="10401300" y="267652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demo-h-4">
            <a:extLst>
              <a:ext uri="{FF2B5EF4-FFF2-40B4-BE49-F238E27FC236}">
                <a16:creationId xmlns:a16="http://schemas.microsoft.com/office/drawing/2014/main" id="{244CE985-CE00-4C52-A30D-6D6AEA0324D0}"/>
              </a:ext>
            </a:extLst>
          </p:cNvPr>
          <p:cNvSpPr>
            <a:spLocks noGrp="1"/>
          </p:cNvSpPr>
          <p:nvPr/>
        </p:nvSpPr>
        <p:spPr>
          <a:xfrm>
            <a:off x="9829800" y="32575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Ask Advisor</a:t>
            </a:r>
          </a:p>
        </p:txBody>
      </p:sp>
      <p:sp>
        <p:nvSpPr>
          <p:cNvPr id="24" name="demo-b-4">
            <a:extLst>
              <a:ext uri="{FF2B5EF4-FFF2-40B4-BE49-F238E27FC236}">
                <a16:creationId xmlns:a16="http://schemas.microsoft.com/office/drawing/2014/main" id="{DACEA7E9-B631-4918-BAC7-4252205208A4}"/>
              </a:ext>
            </a:extLst>
          </p:cNvPr>
          <p:cNvSpPr>
            <a:spLocks noGrp="1"/>
          </p:cNvSpPr>
          <p:nvPr/>
        </p:nvSpPr>
        <p:spPr>
          <a:xfrm>
            <a:off x="9715500" y="3676650"/>
            <a:ext cx="1790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ADC0BA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5" name="demo-question-label">
            <a:extLst>
              <a:ext uri="{FF2B5EF4-FFF2-40B4-BE49-F238E27FC236}">
                <a16:creationId xmlns:a16="http://schemas.microsoft.com/office/drawing/2014/main" id="{241DAF23-4B20-4065-BCC3-B1698F9F78EA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DEMO QUESTION</a:t>
            </a:r>
          </a:p>
        </p:txBody>
      </p:sp>
      <p:sp>
        <p:nvSpPr>
          <p:cNvPr id="26" name="demo-question">
            <a:extLst>
              <a:ext uri="{FF2B5EF4-FFF2-40B4-BE49-F238E27FC236}">
                <a16:creationId xmlns:a16="http://schemas.microsoft.com/office/drawing/2014/main" id="{91E868B3-2D7E-432F-9874-4E9625CBF62F}"/>
              </a:ext>
            </a:extLst>
          </p:cNvPr>
          <p:cNvSpPr>
            <a:spLocks noGrp="1"/>
          </p:cNvSpPr>
          <p:nvPr/>
        </p:nvSpPr>
        <p:spPr>
          <a:xfrm>
            <a:off x="952500" y="5162550"/>
            <a:ext cx="723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0859" lnSpcReduction="10000"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Which sectors are promoted for foreign investment in Sri Lanka?</a:t>
            </a:r>
          </a:p>
        </p:txBody>
      </p:sp>
      <p:sp>
        <p:nvSpPr>
          <p:cNvPr id="27" name="demo-backup">
            <a:extLst>
              <a:ext uri="{FF2B5EF4-FFF2-40B4-BE49-F238E27FC236}">
                <a16:creationId xmlns:a16="http://schemas.microsoft.com/office/drawing/2014/main" id="{249068A4-DDC4-4B9A-981F-A3A9204F65F4}"/>
              </a:ext>
            </a:extLst>
          </p:cNvPr>
          <p:cNvSpPr>
            <a:spLocks noGrp="1"/>
          </p:cNvSpPr>
          <p:nvPr/>
        </p:nvSpPr>
        <p:spPr>
          <a:xfrm>
            <a:off x="952500" y="5924550"/>
            <a:ext cx="971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B4C5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B4C5C0"/>
                </a:solidFill>
                <a:latin typeface="Helvetica Neue"/>
                <a:ea typeface="Helvetica Neue"/>
                <a:cs typeface="Helvetica Neue"/>
              </a:rPr>
              <a:t>Backup: keep the trace screenshots and completed land report open in separate tabs.</a:t>
            </a:r>
          </a:p>
        </p:txBody>
      </p:sp>
      <p:sp>
        <p:nvSpPr>
          <p:cNvPr id="28" name="footer-14">
            <a:extLst>
              <a:ext uri="{FF2B5EF4-FFF2-40B4-BE49-F238E27FC236}">
                <a16:creationId xmlns:a16="http://schemas.microsoft.com/office/drawing/2014/main" id="{1BF4CCA0-3E18-4CD7-ADA9-C983606AC0C3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29" name="folio-14">
            <a:extLst>
              <a:ext uri="{FF2B5EF4-FFF2-40B4-BE49-F238E27FC236}">
                <a16:creationId xmlns:a16="http://schemas.microsoft.com/office/drawing/2014/main" id="{979364C8-63C0-45FE-8D32-216D8CD9BAEB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E918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04399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E8822296-CC42-4E29-8494-29ED80B2704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Measured limitations and next steps</a:t>
            </a:r>
          </a:p>
        </p:txBody>
      </p:sp>
      <p:cxnSp>
        <p:nvCxnSpPr>
          <p:cNvPr id="12" name="title-rule"/>
          <p:cNvCxnSpPr/>
          <p:nvPr/>
        </p:nvCxnSpPr>
        <p:spPr>
          <a:xfrm>
            <a:off x="609600" y="1409700"/>
            <a:ext cx="10972800" cy="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3" name="limits-head">
            <a:extLst>
              <a:ext uri="{FF2B5EF4-FFF2-40B4-BE49-F238E27FC236}">
                <a16:creationId xmlns:a16="http://schemas.microsoft.com/office/drawing/2014/main" id="{C996C28B-0A50-4E62-8B84-9BC906EAF54E}"/>
              </a:ext>
            </a:extLst>
          </p:cNvPr>
          <p:cNvSpPr>
            <a:spLocks noGrp="1"/>
          </p:cNvSpPr>
          <p:nvPr/>
        </p:nvSpPr>
        <p:spPr>
          <a:xfrm>
            <a:off x="628650" y="1866900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Current limitations</a:t>
            </a:r>
          </a:p>
        </p:txBody>
      </p:sp>
      <p:sp>
        <p:nvSpPr>
          <p:cNvPr id="4" name="limits">
            <a:extLst>
              <a:ext uri="{FF2B5EF4-FFF2-40B4-BE49-F238E27FC236}">
                <a16:creationId xmlns:a16="http://schemas.microsoft.com/office/drawing/2014/main" id="{8A8D50CB-3DF6-4870-9FBD-31EDCF1A8455}"/>
              </a:ext>
            </a:extLst>
          </p:cNvPr>
          <p:cNvSpPr>
            <a:spLocks noGrp="1"/>
          </p:cNvSpPr>
          <p:nvPr/>
        </p:nvSpPr>
        <p:spPr>
          <a:xfrm>
            <a:off x="628650" y="2514600"/>
            <a:ext cx="485775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The reranker trails the vector-only baseline on the current benchmark.</a:t>
            </a:r>
          </a:p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Statistics and tax sources need broader document coverage.</a:t>
            </a:r>
          </a:p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Vision quality depends on scan clarity and legibility.</a:t>
            </a:r>
          </a:p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OpenStreetMap coverage and geocoding precision vary by location.</a:t>
            </a:r>
          </a:p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Public deployment remains pending.</a:t>
            </a:r>
          </a:p>
        </p:txBody>
      </p:sp>
      <p:cxnSp>
        <p:nvCxnSpPr>
          <p:cNvPr id="15" name="limits-divider"/>
          <p:cNvCxnSpPr/>
          <p:nvPr/>
        </p:nvCxnSpPr>
        <p:spPr>
          <a:xfrm>
            <a:off x="6038850" y="1809750"/>
            <a:ext cx="0" cy="3733800"/>
          </a:xfrm>
          <a:prstGeom prst="straightConnector1">
            <a:avLst/>
          </a:prstGeom>
          <a:ln w="9525">
            <a:solidFill>
              <a:srgbClr val="D4D0C5"/>
            </a:solidFill>
            <a:prstDash val="solid"/>
          </a:ln>
        </p:spPr>
      </p:cxnSp>
      <p:sp>
        <p:nvSpPr>
          <p:cNvPr id="6" name="next-head">
            <a:extLst>
              <a:ext uri="{FF2B5EF4-FFF2-40B4-BE49-F238E27FC236}">
                <a16:creationId xmlns:a16="http://schemas.microsoft.com/office/drawing/2014/main" id="{57B36FE5-D40A-4A66-B70F-4BA0E0B018BB}"/>
              </a:ext>
            </a:extLst>
          </p:cNvPr>
          <p:cNvSpPr>
            <a:spLocks noGrp="1"/>
          </p:cNvSpPr>
          <p:nvPr/>
        </p:nvSpPr>
        <p:spPr>
          <a:xfrm>
            <a:off x="6572250" y="1866900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42B2B"/>
                </a:solidFill>
                <a:latin typeface="Helvetica Neue"/>
                <a:ea typeface="Helvetica Neue"/>
                <a:cs typeface="Helvetica Neue"/>
              </a:rPr>
              <a:t>Next iteration</a:t>
            </a:r>
          </a:p>
        </p:txBody>
      </p:sp>
      <p:sp>
        <p:nvSpPr>
          <p:cNvPr id="7" name="next">
            <a:extLst>
              <a:ext uri="{FF2B5EF4-FFF2-40B4-BE49-F238E27FC236}">
                <a16:creationId xmlns:a16="http://schemas.microsoft.com/office/drawing/2014/main" id="{D34EDED3-7072-491E-BCEE-10A149C134F6}"/>
              </a:ext>
            </a:extLst>
          </p:cNvPr>
          <p:cNvSpPr>
            <a:spLocks noGrp="1"/>
          </p:cNvSpPr>
          <p:nvPr/>
        </p:nvSpPr>
        <p:spPr>
          <a:xfrm>
            <a:off x="6572250" y="2514600"/>
            <a:ext cx="4762500" cy="2857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Expand the official document collection in weak categories.</a:t>
            </a:r>
          </a:p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Tune or replace the reranker using domain-labelled examples.</a:t>
            </a:r>
          </a:p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Add human-reviewed answer-quality and land-task scoring.</a:t>
            </a:r>
          </a:p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Complete production deployment and monitoring.</a:t>
            </a:r>
          </a:p>
          <a:p>
            <a:pPr marL="228600" indent="-114300">
              <a:spcAft>
                <a:spcPts val="1200"/>
              </a:spcAft>
              <a:buChar char="•"/>
              <a:def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Add legal, planning and environmental datasets where permitted.</a:t>
            </a:r>
          </a:p>
        </p:txBody>
      </p:sp>
      <p:sp>
        <p:nvSpPr>
          <p:cNvPr id="8" name="limits-principle">
            <a:extLst>
              <a:ext uri="{FF2B5EF4-FFF2-40B4-BE49-F238E27FC236}">
                <a16:creationId xmlns:a16="http://schemas.microsoft.com/office/drawing/2014/main" id="{9A25F22E-47EB-476A-9505-7935350FC12E}"/>
              </a:ext>
            </a:extLst>
          </p:cNvPr>
          <p:cNvSpPr>
            <a:spLocks noGrp="1"/>
          </p:cNvSpPr>
          <p:nvPr/>
        </p:nvSpPr>
        <p:spPr>
          <a:xfrm>
            <a:off x="1676400" y="5791200"/>
            <a:ext cx="88392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ctr">
              <a:defRPr sz="17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A85D43"/>
                </a:solidFill>
                <a:latin typeface="Helvetica Neue"/>
                <a:ea typeface="Helvetica Neue"/>
                <a:cs typeface="Helvetica Neue"/>
              </a:rPr>
              <a:t>The system supports decisions. It does not replace professional due diligence.</a:t>
            </a:r>
          </a:p>
        </p:txBody>
      </p:sp>
      <p:sp>
        <p:nvSpPr>
          <p:cNvPr id="9" name="footer-15">
            <a:extLst>
              <a:ext uri="{FF2B5EF4-FFF2-40B4-BE49-F238E27FC236}">
                <a16:creationId xmlns:a16="http://schemas.microsoft.com/office/drawing/2014/main" id="{FE82A8C1-2CD8-4671-AB0F-BED2C0BC5AD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5429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SRI LANKA BUSINESS INTELLIGENCE COPILOT</a:t>
            </a:r>
          </a:p>
        </p:txBody>
      </p:sp>
      <p:sp>
        <p:nvSpPr>
          <p:cNvPr id="10" name="folio-15">
            <a:extLst>
              <a:ext uri="{FF2B5EF4-FFF2-40B4-BE49-F238E27FC236}">
                <a16:creationId xmlns:a16="http://schemas.microsoft.com/office/drawing/2014/main" id="{0DC45332-752B-4253-8040-53832A8CB9E9}"/>
              </a:ext>
            </a:extLst>
          </p:cNvPr>
          <p:cNvSpPr>
            <a:spLocks noGrp="1"/>
          </p:cNvSpPr>
          <p:nvPr/>
        </p:nvSpPr>
        <p:spPr>
          <a:xfrm>
            <a:off x="11125200" y="6505575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36E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00285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se-kicker">
            <a:extLst>
              <a:ext uri="{FF2B5EF4-FFF2-40B4-BE49-F238E27FC236}">
                <a16:creationId xmlns:a16="http://schemas.microsoft.com/office/drawing/2014/main" id="{27B8582B-E5C4-4FB5-887B-7380D5AC38A1}"/>
              </a:ext>
            </a:extLst>
          </p:cNvPr>
          <p:cNvSpPr>
            <a:spLocks noGrp="1"/>
          </p:cNvSpPr>
          <p:nvPr/>
        </p:nvSpPr>
        <p:spPr>
          <a:xfrm>
            <a:off x="781050" y="819150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5C27E0EC-EC38-4747-A99A-364F0ECE96D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9810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Grounded research and land intelligence in one traceable application</a:t>
            </a:r>
          </a:p>
        </p:txBody>
      </p:sp>
      <p:sp>
        <p:nvSpPr>
          <p:cNvPr id="3" name="close-copy">
            <a:extLst>
              <a:ext uri="{FF2B5EF4-FFF2-40B4-BE49-F238E27FC236}">
                <a16:creationId xmlns:a16="http://schemas.microsoft.com/office/drawing/2014/main" id="{1A22FC70-AA56-4BBA-AFAA-99C8ECA3FB2E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8858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C7D6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C7D6D1"/>
                </a:solidFill>
                <a:latin typeface="Helvetica Neue"/>
                <a:ea typeface="Helvetica Neue"/>
                <a:cs typeface="Helvetica Neue"/>
              </a:rPr>
              <a:t>The project combines official documents, agent tool selection, multimodal analysis and visible evidence to support Sri Lankan business decisions.</a:t>
            </a:r>
          </a:p>
        </p:txBody>
      </p:sp>
      <p:cxnSp>
        <p:nvCxnSpPr>
          <p:cNvPr id="10" name="close-rule"/>
          <p:cNvCxnSpPr/>
          <p:nvPr/>
        </p:nvCxnSpPr>
        <p:spPr>
          <a:xfrm>
            <a:off x="800100" y="4705350"/>
            <a:ext cx="9886950" cy="0"/>
          </a:xfrm>
          <a:prstGeom prst="straightConnector1">
            <a:avLst/>
          </a:prstGeom>
          <a:ln w="9525">
            <a:solidFill>
              <a:srgbClr val="46615B"/>
            </a:solidFill>
            <a:prstDash val="solid"/>
          </a:ln>
        </p:spPr>
      </p:cxnSp>
      <p:sp>
        <p:nvSpPr>
          <p:cNvPr id="5" name="close-question">
            <a:extLst>
              <a:ext uri="{FF2B5EF4-FFF2-40B4-BE49-F238E27FC236}">
                <a16:creationId xmlns:a16="http://schemas.microsoft.com/office/drawing/2014/main" id="{AB41214D-0814-42E3-B2F9-00F588747D1B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4572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D8A83E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  <p:sp>
        <p:nvSpPr>
          <p:cNvPr id="6" name="close-demo">
            <a:extLst>
              <a:ext uri="{FF2B5EF4-FFF2-40B4-BE49-F238E27FC236}">
                <a16:creationId xmlns:a16="http://schemas.microsoft.com/office/drawing/2014/main" id="{3BD8C55F-B872-4B02-B985-955D1DF8CA30}"/>
              </a:ext>
            </a:extLst>
          </p:cNvPr>
          <p:cNvSpPr>
            <a:spLocks noGrp="1"/>
          </p:cNvSpPr>
          <p:nvPr/>
        </p:nvSpPr>
        <p:spPr>
          <a:xfrm>
            <a:off x="8058150" y="5334000"/>
            <a:ext cx="26289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r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demo available</a:t>
            </a:r>
          </a:p>
        </p:txBody>
      </p:sp>
    </p:spTree>
    <p:extLst>
      <p:ext uri="{BB962C8B-B14F-4D97-AF65-F5344CB8AC3E}">
        <p14:creationId xmlns:p14="http://schemas.microsoft.com/office/powerpoint/2010/main" val="8196213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2591</Words>
  <Application>Microsoft Macintosh PowerPoint</Application>
  <DocSecurity>0</DocSecurity>
  <PresentationFormat>Widescreen</PresentationFormat>
  <Paragraphs>375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Don Mithila Palliyaguruge</cp:lastModifiedBy>
  <cp:revision>15</cp:revision>
  <dcterms:created xsi:type="dcterms:W3CDTF">2026-09-04T11:55:17Z</dcterms:created>
  <dcterms:modified xsi:type="dcterms:W3CDTF">2026-09-05T08:33:17Z</dcterms:modified>
</cp:coreProperties>
</file>